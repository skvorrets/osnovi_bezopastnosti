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0"/>
  </p:normalViewPr>
  <p:slideViewPr>
    <p:cSldViewPr>
      <p:cViewPr varScale="1">
        <p:scale>
          <a:sx n="194" d="100"/>
          <a:sy n="194" d="100"/>
        </p:scale>
        <p:origin x="600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2631" y="82877"/>
            <a:ext cx="1251585" cy="179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FFFFE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Байрамов</a:t>
            </a:r>
            <a:r>
              <a:rPr spc="145" dirty="0"/>
              <a:t> </a:t>
            </a:r>
            <a:r>
              <a:rPr spc="-10" dirty="0"/>
              <a:t>Керим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2026-</a:t>
            </a:r>
            <a:r>
              <a:rPr spc="-10" dirty="0"/>
              <a:t>03-</a:t>
            </a:r>
            <a:r>
              <a:rPr spc="-25" dirty="0"/>
              <a:t>29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20" dirty="0"/>
              <a:t>‹#›</a:t>
            </a:fld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13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FFFE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Байрамов</a:t>
            </a:r>
            <a:r>
              <a:rPr spc="145" dirty="0"/>
              <a:t> </a:t>
            </a:r>
            <a:r>
              <a:rPr spc="-10" dirty="0"/>
              <a:t>Керим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2026-</a:t>
            </a:r>
            <a:r>
              <a:rPr spc="-10" dirty="0"/>
              <a:t>03-</a:t>
            </a:r>
            <a:r>
              <a:rPr spc="-25" dirty="0"/>
              <a:t>29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20" dirty="0"/>
              <a:t>‹#›</a:t>
            </a:fld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13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FFFE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Байрамов</a:t>
            </a:r>
            <a:r>
              <a:rPr spc="145" dirty="0"/>
              <a:t> </a:t>
            </a:r>
            <a:r>
              <a:rPr spc="-10" dirty="0"/>
              <a:t>Керим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2026-</a:t>
            </a:r>
            <a:r>
              <a:rPr spc="-10" dirty="0"/>
              <a:t>03-</a:t>
            </a:r>
            <a:r>
              <a:rPr spc="-25" dirty="0"/>
              <a:t>29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20" dirty="0"/>
              <a:t>‹#›</a:t>
            </a:fld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13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FFFE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Байрамов</a:t>
            </a:r>
            <a:r>
              <a:rPr spc="145" dirty="0"/>
              <a:t> </a:t>
            </a:r>
            <a:r>
              <a:rPr spc="-10" dirty="0"/>
              <a:t>Керим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2026-</a:t>
            </a:r>
            <a:r>
              <a:rPr spc="-10" dirty="0"/>
              <a:t>03-</a:t>
            </a:r>
            <a:r>
              <a:rPr spc="-25" dirty="0"/>
              <a:t>29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20" dirty="0"/>
              <a:t>‹#›</a:t>
            </a:fld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13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Байрамов</a:t>
            </a:r>
            <a:r>
              <a:rPr spc="145" dirty="0"/>
              <a:t> </a:t>
            </a:r>
            <a:r>
              <a:rPr spc="-10" dirty="0"/>
              <a:t>Керим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2026-</a:t>
            </a:r>
            <a:r>
              <a:rPr spc="-10" dirty="0"/>
              <a:t>03-</a:t>
            </a:r>
            <a:r>
              <a:rPr spc="-25" dirty="0"/>
              <a:t>29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20" dirty="0"/>
              <a:t>‹#›</a:t>
            </a:fld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13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59410"/>
          </a:xfrm>
          <a:custGeom>
            <a:avLst/>
            <a:gdLst/>
            <a:ahLst/>
            <a:cxnLst/>
            <a:rect l="l" t="t" r="r" b="b"/>
            <a:pathLst>
              <a:path w="5760085" h="359410">
                <a:moveTo>
                  <a:pt x="5759996" y="0"/>
                </a:moveTo>
                <a:lnTo>
                  <a:pt x="0" y="0"/>
                </a:lnTo>
                <a:lnTo>
                  <a:pt x="0" y="358800"/>
                </a:lnTo>
                <a:lnTo>
                  <a:pt x="5759996" y="358800"/>
                </a:lnTo>
                <a:lnTo>
                  <a:pt x="5759996" y="0"/>
                </a:lnTo>
                <a:close/>
              </a:path>
            </a:pathLst>
          </a:custGeom>
          <a:solidFill>
            <a:srgbClr val="2C3D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631" y="82877"/>
            <a:ext cx="3023870" cy="179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FFFFE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5434" y="1084011"/>
            <a:ext cx="5085080" cy="1276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02759" y="3112302"/>
            <a:ext cx="692150" cy="14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Байрамов</a:t>
            </a:r>
            <a:r>
              <a:rPr spc="145" dirty="0"/>
              <a:t> </a:t>
            </a:r>
            <a:r>
              <a:rPr spc="-10" dirty="0"/>
              <a:t>Керим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45160" y="3112302"/>
            <a:ext cx="434975" cy="14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2026-</a:t>
            </a:r>
            <a:r>
              <a:rPr spc="-10" dirty="0"/>
              <a:t>03-</a:t>
            </a:r>
            <a:r>
              <a:rPr spc="-25" dirty="0"/>
              <a:t>29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79135" y="3112302"/>
            <a:ext cx="259079" cy="14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20" dirty="0"/>
              <a:t>‹#›</a:t>
            </a:fld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13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2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64805" y="898999"/>
            <a:ext cx="2677795" cy="48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200" spc="-20" dirty="0">
                <a:solidFill>
                  <a:srgbClr val="191919"/>
                </a:solidFill>
                <a:latin typeface="Microsoft Sans Serif"/>
                <a:cs typeface="Microsoft Sans Serif"/>
              </a:rPr>
              <a:t>Доклад</a:t>
            </a:r>
            <a:r>
              <a:rPr sz="1200" spc="60" dirty="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91919"/>
                </a:solidFill>
                <a:latin typeface="Microsoft Sans Serif"/>
                <a:cs typeface="Microsoft Sans Serif"/>
              </a:rPr>
              <a:t>по</a:t>
            </a:r>
            <a:r>
              <a:rPr sz="1200" spc="65" dirty="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91919"/>
                </a:solidFill>
                <a:latin typeface="Microsoft Sans Serif"/>
                <a:cs typeface="Microsoft Sans Serif"/>
              </a:rPr>
              <a:t>лабораторной</a:t>
            </a:r>
            <a:r>
              <a:rPr sz="1200" spc="65" dirty="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91919"/>
                </a:solidFill>
                <a:latin typeface="Microsoft Sans Serif"/>
                <a:cs typeface="Microsoft Sans Serif"/>
              </a:rPr>
              <a:t>работе</a:t>
            </a:r>
            <a:r>
              <a:rPr sz="1200" spc="65" dirty="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sz="1200" spc="45" dirty="0">
                <a:solidFill>
                  <a:srgbClr val="191919"/>
                </a:solidFill>
                <a:latin typeface="Microsoft Sans Serif"/>
                <a:cs typeface="Microsoft Sans Serif"/>
              </a:rPr>
              <a:t>№8</a:t>
            </a:r>
            <a:endParaRPr sz="12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sz="1000" dirty="0">
                <a:solidFill>
                  <a:srgbClr val="191919"/>
                </a:solidFill>
                <a:latin typeface="Trebuchet MS"/>
                <a:cs typeface="Trebuchet MS"/>
              </a:rPr>
              <a:t>Шифр</a:t>
            </a:r>
            <a:r>
              <a:rPr sz="1000" spc="6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191919"/>
                </a:solidFill>
                <a:latin typeface="Trebuchet MS"/>
                <a:cs typeface="Trebuchet MS"/>
              </a:rPr>
              <a:t>гаммирования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3438" y="1673421"/>
            <a:ext cx="5040630" cy="25400"/>
          </a:xfrm>
          <a:custGeom>
            <a:avLst/>
            <a:gdLst/>
            <a:ahLst/>
            <a:cxnLst/>
            <a:rect l="l" t="t" r="r" b="b"/>
            <a:pathLst>
              <a:path w="5040630" h="25400">
                <a:moveTo>
                  <a:pt x="0" y="25305"/>
                </a:moveTo>
                <a:lnTo>
                  <a:pt x="0" y="0"/>
                </a:lnTo>
                <a:lnTo>
                  <a:pt x="5040064" y="0"/>
                </a:lnTo>
                <a:lnTo>
                  <a:pt x="5040064" y="25305"/>
                </a:lnTo>
                <a:lnTo>
                  <a:pt x="0" y="25305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74137" y="1788065"/>
            <a:ext cx="1094563" cy="40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355" marR="5080" indent="-161290" algn="ctr">
              <a:lnSpc>
                <a:spcPct val="155500"/>
              </a:lnSpc>
              <a:spcBef>
                <a:spcPts val="100"/>
              </a:spcBef>
            </a:pPr>
            <a:r>
              <a:rPr lang="ru-RU" sz="850" spc="-20" dirty="0">
                <a:solidFill>
                  <a:srgbClr val="191919"/>
                </a:solidFill>
                <a:latin typeface="Trebuchet MS"/>
                <a:cs typeface="Trebuchet MS"/>
              </a:rPr>
              <a:t>Скворцова Анастасия</a:t>
            </a:r>
          </a:p>
          <a:p>
            <a:pPr marL="173355" marR="5080" indent="-161290" algn="ctr">
              <a:lnSpc>
                <a:spcPct val="155500"/>
              </a:lnSpc>
              <a:spcBef>
                <a:spcPts val="100"/>
              </a:spcBef>
            </a:pPr>
            <a:r>
              <a:rPr sz="850" spc="-20" dirty="0">
                <a:solidFill>
                  <a:srgbClr val="191919"/>
                </a:solidFill>
                <a:latin typeface="Trebuchet MS"/>
                <a:cs typeface="Trebuchet MS"/>
              </a:rPr>
              <a:t>2026-</a:t>
            </a:r>
            <a:r>
              <a:rPr sz="850" spc="-40" dirty="0">
                <a:solidFill>
                  <a:srgbClr val="191919"/>
                </a:solidFill>
                <a:latin typeface="Trebuchet MS"/>
                <a:cs typeface="Trebuchet MS"/>
              </a:rPr>
              <a:t>0</a:t>
            </a:r>
            <a:r>
              <a:rPr lang="ru-RU" sz="850" spc="-40" dirty="0">
                <a:solidFill>
                  <a:srgbClr val="191919"/>
                </a:solidFill>
                <a:latin typeface="Trebuchet MS"/>
                <a:cs typeface="Trebuchet MS"/>
              </a:rPr>
              <a:t>5</a:t>
            </a:r>
            <a:r>
              <a:rPr sz="850" spc="-40" dirty="0">
                <a:solidFill>
                  <a:srgbClr val="191919"/>
                </a:solidFill>
                <a:latin typeface="Trebuchet MS"/>
                <a:cs typeface="Trebuchet MS"/>
              </a:rPr>
              <a:t>-</a:t>
            </a:r>
            <a:r>
              <a:rPr lang="ru-RU" sz="850" spc="-25" dirty="0">
                <a:solidFill>
                  <a:srgbClr val="191919"/>
                </a:solidFill>
                <a:latin typeface="Trebuchet MS"/>
                <a:cs typeface="Trebuchet MS"/>
              </a:rPr>
              <a:t>15</a:t>
            </a:r>
            <a:endParaRPr sz="85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245160" y="3112302"/>
            <a:ext cx="434975" cy="12118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2026-</a:t>
            </a:r>
            <a:r>
              <a:rPr spc="-10" dirty="0"/>
              <a:t>0</a:t>
            </a:r>
            <a:r>
              <a:rPr lang="ru-RU" spc="-10" dirty="0"/>
              <a:t>5</a:t>
            </a:r>
            <a:r>
              <a:rPr spc="-10" dirty="0"/>
              <a:t>-</a:t>
            </a:r>
            <a:r>
              <a:rPr lang="ru-RU" spc="-25" dirty="0"/>
              <a:t>15</a:t>
            </a:r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846465" y="3112302"/>
            <a:ext cx="1489710" cy="14732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Доклад</a:t>
            </a:r>
            <a:r>
              <a:rPr sz="650" spc="25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по</a:t>
            </a:r>
            <a:r>
              <a:rPr sz="650" spc="3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лабораторной</a:t>
            </a:r>
            <a:r>
              <a:rPr sz="650" spc="3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работе</a:t>
            </a:r>
            <a:r>
              <a:rPr sz="650" spc="25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55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№8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330700" y="3112302"/>
            <a:ext cx="864209" cy="12118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lang="ru-RU" spc="-10" dirty="0"/>
              <a:t>Скворцова Анастасия</a:t>
            </a: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20" dirty="0"/>
              <a:t>1</a:t>
            </a:fld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82877"/>
            <a:ext cx="91757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FFFFEF"/>
                </a:solidFill>
                <a:latin typeface="Microsoft Sans Serif"/>
                <a:cs typeface="Microsoft Sans Serif"/>
              </a:rPr>
              <a:t>Содержание</a:t>
            </a:r>
            <a:r>
              <a:rPr sz="1000" spc="5" dirty="0">
                <a:solidFill>
                  <a:srgbClr val="FFFFEF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FFFFEF"/>
                </a:solidFill>
                <a:latin typeface="Microsoft Sans Serif"/>
                <a:cs typeface="Microsoft Sans Serif"/>
              </a:rPr>
              <a:t>(i)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6465" y="3112302"/>
            <a:ext cx="1489710" cy="14732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Доклад</a:t>
            </a:r>
            <a:r>
              <a:rPr sz="650" spc="25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по</a:t>
            </a:r>
            <a:r>
              <a:rPr sz="650" spc="3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лабораторной</a:t>
            </a:r>
            <a:r>
              <a:rPr sz="650" spc="3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работе</a:t>
            </a:r>
            <a:r>
              <a:rPr sz="650" spc="25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55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№8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20" dirty="0"/>
              <a:t>2</a:t>
            </a:fld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898279"/>
            <a:ext cx="920115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spc="-125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1.</a:t>
            </a:r>
            <a:r>
              <a:rPr sz="900" spc="15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Цели</a:t>
            </a:r>
            <a:r>
              <a:rPr sz="900" spc="2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и</a:t>
            </a:r>
            <a:r>
              <a:rPr sz="900" spc="2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 </a:t>
            </a:r>
            <a:r>
              <a:rPr sz="900" spc="-1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задачи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294" y="1656279"/>
            <a:ext cx="2070100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spc="-90" dirty="0">
                <a:solidFill>
                  <a:srgbClr val="191919"/>
                </a:solidFill>
                <a:latin typeface="Trebuchet MS"/>
                <a:cs typeface="Trebuchet MS"/>
                <a:hlinkClick r:id="rId4" action="ppaction://hlinksldjump"/>
              </a:rPr>
              <a:t>2.</a:t>
            </a:r>
            <a:r>
              <a:rPr sz="900" spc="170" dirty="0">
                <a:solidFill>
                  <a:srgbClr val="191919"/>
                </a:solidFill>
                <a:latin typeface="Trebuchet MS"/>
                <a:cs typeface="Trebuchet MS"/>
                <a:hlinkClick r:id="rId4" action="ppaction://hlinksldjump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  <a:hlinkClick r:id="rId4" action="ppaction://hlinksldjump"/>
              </a:rPr>
              <a:t>Выполнение</a:t>
            </a:r>
            <a:r>
              <a:rPr sz="900" spc="170" dirty="0">
                <a:solidFill>
                  <a:srgbClr val="191919"/>
                </a:solidFill>
                <a:latin typeface="Trebuchet MS"/>
                <a:cs typeface="Trebuchet MS"/>
                <a:hlinkClick r:id="rId4" action="ppaction://hlinksldjump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  <a:hlinkClick r:id="rId4" action="ppaction://hlinksldjump"/>
              </a:rPr>
              <a:t>лабораторной</a:t>
            </a:r>
            <a:r>
              <a:rPr sz="900" spc="170" dirty="0">
                <a:solidFill>
                  <a:srgbClr val="191919"/>
                </a:solidFill>
                <a:latin typeface="Trebuchet MS"/>
                <a:cs typeface="Trebuchet MS"/>
                <a:hlinkClick r:id="rId4" action="ppaction://hlinksldjump"/>
              </a:rPr>
              <a:t> </a:t>
            </a:r>
            <a:r>
              <a:rPr sz="900" spc="-10" dirty="0">
                <a:solidFill>
                  <a:srgbClr val="191919"/>
                </a:solidFill>
                <a:latin typeface="Trebuchet MS"/>
                <a:cs typeface="Trebuchet MS"/>
                <a:hlinkClick r:id="rId4" action="ppaction://hlinksldjump"/>
              </a:rPr>
              <a:t>работы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7294" y="2414266"/>
            <a:ext cx="572770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spc="-85" dirty="0">
                <a:solidFill>
                  <a:srgbClr val="191919"/>
                </a:solidFill>
                <a:latin typeface="Trebuchet MS"/>
                <a:cs typeface="Trebuchet MS"/>
                <a:hlinkClick r:id="rId5" action="ppaction://hlinksldjump"/>
              </a:rPr>
              <a:t>3.</a:t>
            </a:r>
            <a:r>
              <a:rPr sz="900" spc="-15" dirty="0">
                <a:solidFill>
                  <a:srgbClr val="191919"/>
                </a:solidFill>
                <a:latin typeface="Trebuchet MS"/>
                <a:cs typeface="Trebuchet MS"/>
                <a:hlinkClick r:id="rId5" action="ppaction://hlinksldjump"/>
              </a:rPr>
              <a:t> </a:t>
            </a:r>
            <a:r>
              <a:rPr sz="900" spc="-10" dirty="0">
                <a:solidFill>
                  <a:srgbClr val="191919"/>
                </a:solidFill>
                <a:latin typeface="Trebuchet MS"/>
                <a:cs typeface="Trebuchet MS"/>
                <a:hlinkClick r:id="rId5" action="ppaction://hlinksldjump"/>
              </a:rPr>
              <a:t>Выводы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957868B9-C8A1-C3F3-D154-67D920290532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45160" y="3112302"/>
            <a:ext cx="434975" cy="12118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2026-</a:t>
            </a:r>
            <a:r>
              <a:rPr spc="-10" dirty="0"/>
              <a:t>0</a:t>
            </a:r>
            <a:r>
              <a:rPr lang="ru-RU" spc="-10" dirty="0"/>
              <a:t>5</a:t>
            </a:r>
            <a:r>
              <a:rPr spc="-10" dirty="0"/>
              <a:t>-</a:t>
            </a:r>
            <a:r>
              <a:rPr lang="ru-RU" spc="-25" dirty="0"/>
              <a:t>15</a:t>
            </a:r>
            <a:endParaRPr spc="-25" dirty="0"/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87D3521A-5269-ED33-5F23-20D53ACC9E5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330700" y="3112302"/>
            <a:ext cx="864209" cy="12118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lang="ru-RU" spc="-10" dirty="0"/>
              <a:t>Скворцова Анастасия</a:t>
            </a:r>
            <a:endParaRPr spc="-10" dirty="0"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73491" y="1301005"/>
            <a:ext cx="1351280" cy="210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0" dirty="0">
                <a:solidFill>
                  <a:srgbClr val="191919"/>
                </a:solidFill>
                <a:latin typeface="Microsoft Sans Serif"/>
                <a:cs typeface="Microsoft Sans Serif"/>
              </a:rPr>
              <a:t>1.</a:t>
            </a:r>
            <a:r>
              <a:rPr sz="1200" dirty="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sz="1200" spc="-100" dirty="0">
                <a:solidFill>
                  <a:srgbClr val="191919"/>
                </a:solidFill>
                <a:latin typeface="Microsoft Sans Serif"/>
                <a:cs typeface="Microsoft Sans Serif"/>
                <a:hlinkClick r:id="rId2" action="ppaction://hlinksldjump"/>
              </a:rPr>
              <a:t>1.</a:t>
            </a:r>
            <a:r>
              <a:rPr sz="1200" spc="5" dirty="0">
                <a:solidFill>
                  <a:srgbClr val="191919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1200" spc="-10" dirty="0">
                <a:solidFill>
                  <a:srgbClr val="191919"/>
                </a:solidFill>
                <a:latin typeface="Microsoft Sans Serif"/>
                <a:cs typeface="Microsoft Sans Serif"/>
                <a:hlinkClick r:id="rId2" action="ppaction://hlinksldjump"/>
              </a:rPr>
              <a:t>Цели</a:t>
            </a:r>
            <a:r>
              <a:rPr sz="1200" spc="5" dirty="0">
                <a:solidFill>
                  <a:srgbClr val="191919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1200" dirty="0">
                <a:solidFill>
                  <a:srgbClr val="191919"/>
                </a:solidFill>
                <a:latin typeface="Microsoft Sans Serif"/>
                <a:cs typeface="Microsoft Sans Serif"/>
                <a:hlinkClick r:id="rId2" action="ppaction://hlinksldjump"/>
              </a:rPr>
              <a:t>и</a:t>
            </a:r>
            <a:r>
              <a:rPr sz="1200" spc="5" dirty="0">
                <a:solidFill>
                  <a:srgbClr val="191919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1200" spc="-10" dirty="0">
                <a:solidFill>
                  <a:srgbClr val="191919"/>
                </a:solidFill>
                <a:latin typeface="Microsoft Sans Serif"/>
                <a:cs typeface="Microsoft Sans Serif"/>
                <a:hlinkClick r:id="rId2" action="ppaction://hlinksldjump"/>
              </a:rPr>
              <a:t>задачи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86191" y="1565620"/>
            <a:ext cx="2588260" cy="38100"/>
            <a:chOff x="1586191" y="1565620"/>
            <a:chExt cx="2588260" cy="38100"/>
          </a:xfrm>
        </p:grpSpPr>
        <p:sp>
          <p:nvSpPr>
            <p:cNvPr id="4" name="object 4"/>
            <p:cNvSpPr/>
            <p:nvPr/>
          </p:nvSpPr>
          <p:spPr>
            <a:xfrm>
              <a:off x="1586191" y="1565620"/>
              <a:ext cx="2588260" cy="38100"/>
            </a:xfrm>
            <a:custGeom>
              <a:avLst/>
              <a:gdLst/>
              <a:ahLst/>
              <a:cxnLst/>
              <a:rect l="l" t="t" r="r" b="b"/>
              <a:pathLst>
                <a:path w="2588260" h="38100">
                  <a:moveTo>
                    <a:pt x="0" y="37958"/>
                  </a:moveTo>
                  <a:lnTo>
                    <a:pt x="0" y="0"/>
                  </a:lnTo>
                  <a:lnTo>
                    <a:pt x="2587637" y="0"/>
                  </a:lnTo>
                  <a:lnTo>
                    <a:pt x="2587637" y="37958"/>
                  </a:lnTo>
                  <a:lnTo>
                    <a:pt x="0" y="37958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86191" y="1565620"/>
              <a:ext cx="517525" cy="38100"/>
            </a:xfrm>
            <a:custGeom>
              <a:avLst/>
              <a:gdLst/>
              <a:ahLst/>
              <a:cxnLst/>
              <a:rect l="l" t="t" r="r" b="b"/>
              <a:pathLst>
                <a:path w="517525" h="38100">
                  <a:moveTo>
                    <a:pt x="0" y="37958"/>
                  </a:moveTo>
                  <a:lnTo>
                    <a:pt x="0" y="0"/>
                  </a:lnTo>
                  <a:lnTo>
                    <a:pt x="517519" y="0"/>
                  </a:lnTo>
                  <a:lnTo>
                    <a:pt x="517519" y="37958"/>
                  </a:lnTo>
                  <a:lnTo>
                    <a:pt x="0" y="37958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846465" y="3112302"/>
            <a:ext cx="1489710" cy="14732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Доклад</a:t>
            </a:r>
            <a:r>
              <a:rPr sz="650" spc="25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по</a:t>
            </a:r>
            <a:r>
              <a:rPr sz="650" spc="3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лабораторной</a:t>
            </a:r>
            <a:r>
              <a:rPr sz="650" spc="3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работе</a:t>
            </a:r>
            <a:r>
              <a:rPr sz="650" spc="25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 </a:t>
            </a:r>
            <a:r>
              <a:rPr sz="650" spc="55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№8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20" dirty="0"/>
              <a:t>3</a:t>
            </a:fld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13</a:t>
            </a: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3F20DB35-7AEC-B1C4-1FB6-59475B5EDD5A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45160" y="3112302"/>
            <a:ext cx="434975" cy="12118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2026-</a:t>
            </a:r>
            <a:r>
              <a:rPr spc="-10" dirty="0"/>
              <a:t>0</a:t>
            </a:r>
            <a:r>
              <a:rPr lang="ru-RU" spc="-10" dirty="0"/>
              <a:t>5</a:t>
            </a:r>
            <a:r>
              <a:rPr spc="-10" dirty="0"/>
              <a:t>-</a:t>
            </a:r>
            <a:r>
              <a:rPr lang="ru-RU" spc="-25" dirty="0"/>
              <a:t>15</a:t>
            </a:r>
            <a:endParaRPr spc="-25" dirty="0"/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1E03CF8A-1C77-DAAD-C620-768909A12E8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330700" y="3112302"/>
            <a:ext cx="864209" cy="12118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lang="ru-RU" spc="-10" dirty="0"/>
              <a:t>Скворцова Анастасия</a:t>
            </a:r>
            <a:endParaRPr spc="-10" dirty="0"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1.1</a:t>
            </a:r>
            <a:r>
              <a:rPr spc="65" dirty="0"/>
              <a:t> </a:t>
            </a:r>
            <a:r>
              <a:rPr spc="-20" dirty="0"/>
              <a:t>Цель</a:t>
            </a:r>
            <a:r>
              <a:rPr spc="65" dirty="0"/>
              <a:t> </a:t>
            </a:r>
            <a:r>
              <a:rPr dirty="0"/>
              <a:t>лабораторной</a:t>
            </a:r>
            <a:r>
              <a:rPr spc="65" dirty="0"/>
              <a:t> </a:t>
            </a:r>
            <a:r>
              <a:rPr spc="-10" dirty="0"/>
              <a:t>работы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46465" y="3112302"/>
            <a:ext cx="1489710" cy="14732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Доклад</a:t>
            </a:r>
            <a:r>
              <a:rPr sz="650" spc="25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по</a:t>
            </a:r>
            <a:r>
              <a:rPr sz="650" spc="3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лабораторной</a:t>
            </a:r>
            <a:r>
              <a:rPr sz="650" spc="3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работе</a:t>
            </a:r>
            <a:r>
              <a:rPr sz="650" spc="25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55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№8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20" dirty="0"/>
              <a:t>4</a:t>
            </a:fld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555880"/>
            <a:ext cx="462534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4300"/>
              </a:lnSpc>
              <a:spcBef>
                <a:spcPts val="95"/>
              </a:spcBef>
            </a:pP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Освоить</a:t>
            </a:r>
            <a:r>
              <a:rPr sz="900" spc="12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на</a:t>
            </a:r>
            <a:r>
              <a:rPr sz="900" spc="13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практике</a:t>
            </a:r>
            <a:r>
              <a:rPr sz="900" spc="13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применение</a:t>
            </a:r>
            <a:r>
              <a:rPr sz="900" spc="13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режима</a:t>
            </a:r>
            <a:r>
              <a:rPr sz="900" spc="13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однократного</a:t>
            </a:r>
            <a:r>
              <a:rPr sz="900" spc="12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гаммирования</a:t>
            </a:r>
            <a:r>
              <a:rPr sz="900" spc="13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на</a:t>
            </a:r>
            <a:r>
              <a:rPr sz="900" spc="13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91919"/>
                </a:solidFill>
                <a:latin typeface="Trebuchet MS"/>
                <a:cs typeface="Trebuchet MS"/>
              </a:rPr>
              <a:t>примере </a:t>
            </a:r>
            <a:r>
              <a:rPr sz="900" spc="10" dirty="0">
                <a:solidFill>
                  <a:srgbClr val="191919"/>
                </a:solidFill>
                <a:latin typeface="Trebuchet MS"/>
                <a:cs typeface="Trebuchet MS"/>
              </a:rPr>
              <a:t>кодирования</a:t>
            </a:r>
            <a:r>
              <a:rPr sz="900" spc="3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91919"/>
                </a:solidFill>
                <a:latin typeface="Trebuchet MS"/>
                <a:cs typeface="Trebuchet MS"/>
              </a:rPr>
              <a:t>различных</a:t>
            </a:r>
            <a:r>
              <a:rPr sz="900" spc="3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исходных</a:t>
            </a:r>
            <a:r>
              <a:rPr sz="900" spc="3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текстов</a:t>
            </a:r>
            <a:r>
              <a:rPr sz="900" spc="4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91919"/>
                </a:solidFill>
                <a:latin typeface="Trebuchet MS"/>
                <a:cs typeface="Trebuchet MS"/>
              </a:rPr>
              <a:t>одним</a:t>
            </a:r>
            <a:r>
              <a:rPr sz="900" spc="3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91919"/>
                </a:solidFill>
                <a:latin typeface="Trebuchet MS"/>
                <a:cs typeface="Trebuchet MS"/>
              </a:rPr>
              <a:t>ключом.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F8EE937-011C-2390-323E-3A8BB2CDD0EA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45160" y="3112302"/>
            <a:ext cx="434975" cy="12118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2026-</a:t>
            </a:r>
            <a:r>
              <a:rPr spc="-10" dirty="0"/>
              <a:t>0</a:t>
            </a:r>
            <a:r>
              <a:rPr lang="ru-RU" spc="-10" dirty="0"/>
              <a:t>5</a:t>
            </a:r>
            <a:r>
              <a:rPr spc="-10" dirty="0"/>
              <a:t>-</a:t>
            </a:r>
            <a:r>
              <a:rPr lang="ru-RU" spc="-25" dirty="0"/>
              <a:t>15</a:t>
            </a:r>
            <a:endParaRPr spc="-25" dirty="0"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781F647B-E62D-1E0F-BA06-E0D08C0B67F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330700" y="3112302"/>
            <a:ext cx="864209" cy="12118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lang="ru-RU" spc="-10" dirty="0"/>
              <a:t>Скворцова Анастасия</a:t>
            </a:r>
            <a:endParaRPr spc="-10" dirty="0"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73491" y="1180595"/>
            <a:ext cx="23183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8200"/>
              </a:lnSpc>
              <a:spcBef>
                <a:spcPts val="95"/>
              </a:spcBef>
            </a:pPr>
            <a:r>
              <a:rPr sz="1200" spc="-45" dirty="0">
                <a:solidFill>
                  <a:srgbClr val="191919"/>
                </a:solidFill>
              </a:rPr>
              <a:t>2.</a:t>
            </a:r>
            <a:r>
              <a:rPr sz="1200" spc="25" dirty="0">
                <a:solidFill>
                  <a:srgbClr val="191919"/>
                </a:solidFill>
              </a:rPr>
              <a:t> </a:t>
            </a:r>
            <a:r>
              <a:rPr sz="1200" spc="-45" dirty="0">
                <a:solidFill>
                  <a:srgbClr val="191919"/>
                </a:solidFill>
                <a:hlinkClick r:id="rId2" action="ppaction://hlinksldjump"/>
              </a:rPr>
              <a:t>2.</a:t>
            </a:r>
            <a:r>
              <a:rPr sz="1200" spc="25" dirty="0">
                <a:solidFill>
                  <a:srgbClr val="191919"/>
                </a:solidFill>
                <a:hlinkClick r:id="rId2" action="ppaction://hlinksldjump"/>
              </a:rPr>
              <a:t> </a:t>
            </a:r>
            <a:r>
              <a:rPr sz="1200" dirty="0">
                <a:solidFill>
                  <a:srgbClr val="191919"/>
                </a:solidFill>
                <a:hlinkClick r:id="rId2" action="ppaction://hlinksldjump"/>
              </a:rPr>
              <a:t>Выполнение</a:t>
            </a:r>
            <a:r>
              <a:rPr sz="1200" spc="25" dirty="0">
                <a:solidFill>
                  <a:srgbClr val="191919"/>
                </a:solidFill>
                <a:hlinkClick r:id="rId2" action="ppaction://hlinksldjump"/>
              </a:rPr>
              <a:t> </a:t>
            </a:r>
            <a:r>
              <a:rPr sz="1200" spc="-10" dirty="0">
                <a:solidFill>
                  <a:srgbClr val="191919"/>
                </a:solidFill>
                <a:hlinkClick r:id="rId2" action="ppaction://hlinksldjump"/>
              </a:rPr>
              <a:t>лабораторной</a:t>
            </a:r>
            <a:r>
              <a:rPr sz="1200" spc="-10" dirty="0">
                <a:solidFill>
                  <a:srgbClr val="191919"/>
                </a:solidFill>
              </a:rPr>
              <a:t> </a:t>
            </a:r>
            <a:r>
              <a:rPr sz="1200" spc="-10" dirty="0">
                <a:solidFill>
                  <a:srgbClr val="191919"/>
                </a:solidFill>
                <a:hlinkClick r:id="rId2" action="ppaction://hlinksldjump"/>
              </a:rPr>
              <a:t>работы</a:t>
            </a:r>
            <a:endParaRPr sz="1200"/>
          </a:p>
        </p:txBody>
      </p:sp>
      <p:grpSp>
        <p:nvGrpSpPr>
          <p:cNvPr id="3" name="object 3"/>
          <p:cNvGrpSpPr/>
          <p:nvPr/>
        </p:nvGrpSpPr>
        <p:grpSpPr>
          <a:xfrm>
            <a:off x="1586191" y="1656767"/>
            <a:ext cx="2588260" cy="38100"/>
            <a:chOff x="1586191" y="1656767"/>
            <a:chExt cx="2588260" cy="38100"/>
          </a:xfrm>
        </p:grpSpPr>
        <p:sp>
          <p:nvSpPr>
            <p:cNvPr id="4" name="object 4"/>
            <p:cNvSpPr/>
            <p:nvPr/>
          </p:nvSpPr>
          <p:spPr>
            <a:xfrm>
              <a:off x="1586191" y="1656767"/>
              <a:ext cx="2588260" cy="38100"/>
            </a:xfrm>
            <a:custGeom>
              <a:avLst/>
              <a:gdLst/>
              <a:ahLst/>
              <a:cxnLst/>
              <a:rect l="l" t="t" r="r" b="b"/>
              <a:pathLst>
                <a:path w="2588260" h="38100">
                  <a:moveTo>
                    <a:pt x="0" y="37958"/>
                  </a:moveTo>
                  <a:lnTo>
                    <a:pt x="0" y="0"/>
                  </a:lnTo>
                  <a:lnTo>
                    <a:pt x="2587637" y="0"/>
                  </a:lnTo>
                  <a:lnTo>
                    <a:pt x="2587637" y="37958"/>
                  </a:lnTo>
                  <a:lnTo>
                    <a:pt x="0" y="37958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86191" y="1656767"/>
              <a:ext cx="776605" cy="38100"/>
            </a:xfrm>
            <a:custGeom>
              <a:avLst/>
              <a:gdLst/>
              <a:ahLst/>
              <a:cxnLst/>
              <a:rect l="l" t="t" r="r" b="b"/>
              <a:pathLst>
                <a:path w="776605" h="38100">
                  <a:moveTo>
                    <a:pt x="0" y="37958"/>
                  </a:moveTo>
                  <a:lnTo>
                    <a:pt x="0" y="0"/>
                  </a:lnTo>
                  <a:lnTo>
                    <a:pt x="776299" y="0"/>
                  </a:lnTo>
                  <a:lnTo>
                    <a:pt x="776299" y="37958"/>
                  </a:lnTo>
                  <a:lnTo>
                    <a:pt x="0" y="37958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846465" y="3112302"/>
            <a:ext cx="1489710" cy="14732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Доклад</a:t>
            </a:r>
            <a:r>
              <a:rPr sz="650" spc="25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по</a:t>
            </a:r>
            <a:r>
              <a:rPr sz="650" spc="3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лабораторной</a:t>
            </a:r>
            <a:r>
              <a:rPr sz="650" spc="3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работе</a:t>
            </a:r>
            <a:r>
              <a:rPr sz="650" spc="25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 </a:t>
            </a:r>
            <a:r>
              <a:rPr sz="650" spc="55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№8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20" dirty="0"/>
              <a:t>5</a:t>
            </a:fld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13</a:t>
            </a: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D80A6DC3-DD5C-8B79-7887-E4BDA9D72FD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45160" y="3112302"/>
            <a:ext cx="434975" cy="12118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2026-</a:t>
            </a:r>
            <a:r>
              <a:rPr spc="-10" dirty="0"/>
              <a:t>0</a:t>
            </a:r>
            <a:r>
              <a:rPr lang="ru-RU" spc="-10" dirty="0"/>
              <a:t>5</a:t>
            </a:r>
            <a:r>
              <a:rPr spc="-10" dirty="0"/>
              <a:t>-</a:t>
            </a:r>
            <a:r>
              <a:rPr lang="ru-RU" spc="-25" dirty="0"/>
              <a:t>15</a:t>
            </a:r>
            <a:endParaRPr spc="-25" dirty="0"/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07BE8828-CDF7-B33B-D6A5-CE1E6538C39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330700" y="3112302"/>
            <a:ext cx="864209" cy="12118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lang="ru-RU" spc="-10" dirty="0"/>
              <a:t>Скворцова Анастасия</a:t>
            </a:r>
            <a:endParaRPr spc="-10" dirty="0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" dirty="0"/>
              <a:t>2.1</a:t>
            </a:r>
            <a:r>
              <a:rPr spc="20" dirty="0"/>
              <a:t> </a:t>
            </a:r>
            <a:r>
              <a:rPr spc="-10" dirty="0"/>
              <a:t>Гаммирование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46465" y="3112302"/>
            <a:ext cx="1489710" cy="14732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Доклад</a:t>
            </a:r>
            <a:r>
              <a:rPr sz="650" spc="25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по</a:t>
            </a:r>
            <a:r>
              <a:rPr sz="650" spc="3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лабораторной</a:t>
            </a:r>
            <a:r>
              <a:rPr sz="650" spc="3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работе</a:t>
            </a:r>
            <a:r>
              <a:rPr sz="650" spc="25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55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№8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20" dirty="0"/>
              <a:t>6</a:t>
            </a:fld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534" y="1357976"/>
            <a:ext cx="5005070" cy="8172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175">
              <a:lnSpc>
                <a:spcPct val="144300"/>
              </a:lnSpc>
              <a:spcBef>
                <a:spcPts val="95"/>
              </a:spcBef>
            </a:pPr>
            <a:r>
              <a:rPr sz="900" spc="10" dirty="0">
                <a:solidFill>
                  <a:srgbClr val="191919"/>
                </a:solidFill>
                <a:latin typeface="Trebuchet MS"/>
                <a:cs typeface="Trebuchet MS"/>
              </a:rPr>
              <a:t>Гаммирование</a:t>
            </a:r>
            <a:r>
              <a:rPr sz="900" spc="3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155" dirty="0">
                <a:solidFill>
                  <a:srgbClr val="191919"/>
                </a:solidFill>
                <a:latin typeface="Trebuchet MS"/>
                <a:cs typeface="Trebuchet MS"/>
              </a:rPr>
              <a:t>–</a:t>
            </a:r>
            <a:r>
              <a:rPr sz="900" spc="3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это</a:t>
            </a:r>
            <a:r>
              <a:rPr sz="900" spc="3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91919"/>
                </a:solidFill>
                <a:latin typeface="Trebuchet MS"/>
                <a:cs typeface="Trebuchet MS"/>
              </a:rPr>
              <a:t>наложение</a:t>
            </a:r>
            <a:r>
              <a:rPr sz="900" spc="3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(снятие)</a:t>
            </a:r>
            <a:r>
              <a:rPr sz="900" spc="3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91919"/>
                </a:solidFill>
                <a:latin typeface="Trebuchet MS"/>
                <a:cs typeface="Trebuchet MS"/>
              </a:rPr>
              <a:t>на</a:t>
            </a:r>
            <a:r>
              <a:rPr sz="900" spc="3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91919"/>
                </a:solidFill>
                <a:latin typeface="Trebuchet MS"/>
                <a:cs typeface="Trebuchet MS"/>
              </a:rPr>
              <a:t>открытые</a:t>
            </a:r>
            <a:r>
              <a:rPr sz="900" spc="3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91919"/>
                </a:solidFill>
                <a:latin typeface="Trebuchet MS"/>
                <a:cs typeface="Trebuchet MS"/>
              </a:rPr>
              <a:t>(зашифрованные)</a:t>
            </a:r>
            <a:r>
              <a:rPr sz="900" spc="3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91919"/>
                </a:solidFill>
                <a:latin typeface="Trebuchet MS"/>
                <a:cs typeface="Trebuchet MS"/>
              </a:rPr>
              <a:t>данные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криптографической</a:t>
            </a:r>
            <a:r>
              <a:rPr sz="900" spc="10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-20" dirty="0">
                <a:solidFill>
                  <a:srgbClr val="191919"/>
                </a:solidFill>
                <a:latin typeface="Trebuchet MS"/>
                <a:cs typeface="Trebuchet MS"/>
              </a:rPr>
              <a:t>гаммы,</a:t>
            </a:r>
            <a:r>
              <a:rPr sz="900" spc="10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-95" dirty="0">
                <a:solidFill>
                  <a:srgbClr val="191919"/>
                </a:solidFill>
                <a:latin typeface="Trebuchet MS"/>
                <a:cs typeface="Trebuchet MS"/>
              </a:rPr>
              <a:t>т.е.</a:t>
            </a:r>
            <a:r>
              <a:rPr sz="900" spc="10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последовательности</a:t>
            </a:r>
            <a:r>
              <a:rPr sz="900" spc="10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элементов</a:t>
            </a:r>
            <a:r>
              <a:rPr sz="900" spc="10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данных,</a:t>
            </a:r>
            <a:r>
              <a:rPr sz="900" spc="11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вырабатываемых</a:t>
            </a:r>
            <a:r>
              <a:rPr sz="900" spc="10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-50" dirty="0">
                <a:solidFill>
                  <a:srgbClr val="191919"/>
                </a:solidFill>
                <a:latin typeface="Trebuchet MS"/>
                <a:cs typeface="Trebuchet MS"/>
              </a:rPr>
              <a:t>с </a:t>
            </a:r>
            <a:r>
              <a:rPr sz="900" spc="10" dirty="0">
                <a:solidFill>
                  <a:srgbClr val="191919"/>
                </a:solidFill>
                <a:latin typeface="Trebuchet MS"/>
                <a:cs typeface="Trebuchet MS"/>
              </a:rPr>
              <a:t>помощью</a:t>
            </a:r>
            <a:r>
              <a:rPr sz="900" spc="4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91919"/>
                </a:solidFill>
                <a:latin typeface="Trebuchet MS"/>
                <a:cs typeface="Trebuchet MS"/>
              </a:rPr>
              <a:t>некоторого</a:t>
            </a:r>
            <a:r>
              <a:rPr sz="900" spc="4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91919"/>
                </a:solidFill>
                <a:latin typeface="Trebuchet MS"/>
                <a:cs typeface="Trebuchet MS"/>
              </a:rPr>
              <a:t>криптографического</a:t>
            </a:r>
            <a:r>
              <a:rPr sz="900" spc="4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алгоритма,</a:t>
            </a:r>
            <a:r>
              <a:rPr sz="900" spc="4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91919"/>
                </a:solidFill>
                <a:latin typeface="Trebuchet MS"/>
                <a:cs typeface="Trebuchet MS"/>
              </a:rPr>
              <a:t>для</a:t>
            </a:r>
            <a:r>
              <a:rPr sz="900" spc="4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91919"/>
                </a:solidFill>
                <a:latin typeface="Trebuchet MS"/>
                <a:cs typeface="Trebuchet MS"/>
              </a:rPr>
              <a:t>получения</a:t>
            </a:r>
            <a:r>
              <a:rPr sz="900" spc="4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91919"/>
                </a:solidFill>
                <a:latin typeface="Trebuchet MS"/>
                <a:cs typeface="Trebuchet MS"/>
              </a:rPr>
              <a:t>зашифрованных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(открытых)</a:t>
            </a:r>
            <a:r>
              <a:rPr sz="900" spc="2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91919"/>
                </a:solidFill>
                <a:latin typeface="Trebuchet MS"/>
                <a:cs typeface="Trebuchet MS"/>
              </a:rPr>
              <a:t>данных.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104EF91-EE71-4C72-DBDC-E95F5D15B420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45160" y="3112302"/>
            <a:ext cx="434975" cy="12118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2026-</a:t>
            </a:r>
            <a:r>
              <a:rPr spc="-10" dirty="0"/>
              <a:t>0</a:t>
            </a:r>
            <a:r>
              <a:rPr lang="ru-RU" spc="-10" dirty="0"/>
              <a:t>5</a:t>
            </a:r>
            <a:r>
              <a:rPr spc="-10" dirty="0"/>
              <a:t>-</a:t>
            </a:r>
            <a:r>
              <a:rPr lang="ru-RU" spc="-25" dirty="0"/>
              <a:t>15</a:t>
            </a:r>
            <a:endParaRPr spc="-25" dirty="0"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2F358117-FBC8-8147-CDA1-7496951C0EB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330700" y="3112302"/>
            <a:ext cx="864209" cy="12118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lang="ru-RU" spc="-10" dirty="0"/>
              <a:t>Скворцова Анастасия</a:t>
            </a:r>
            <a:endParaRPr spc="-10" dirty="0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2.2</a:t>
            </a:r>
            <a:r>
              <a:rPr spc="-30" dirty="0"/>
              <a:t> </a:t>
            </a:r>
            <a:r>
              <a:rPr dirty="0"/>
              <a:t>Алгоритм</a:t>
            </a:r>
            <a:r>
              <a:rPr spc="-45" dirty="0"/>
              <a:t> </a:t>
            </a:r>
            <a:r>
              <a:rPr spc="-10" dirty="0"/>
              <a:t>взлома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46465" y="3112302"/>
            <a:ext cx="1489710" cy="14732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Доклад</a:t>
            </a:r>
            <a:r>
              <a:rPr sz="650" spc="25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по</a:t>
            </a:r>
            <a:r>
              <a:rPr sz="650" spc="3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лабораторной</a:t>
            </a:r>
            <a:r>
              <a:rPr sz="650" spc="3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работе</a:t>
            </a:r>
            <a:r>
              <a:rPr sz="650" spc="25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55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№8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20" dirty="0"/>
              <a:t>7</a:t>
            </a:fld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4594" y="1141834"/>
            <a:ext cx="4712335" cy="1161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 marR="17780">
              <a:lnSpc>
                <a:spcPct val="144300"/>
              </a:lnSpc>
              <a:spcBef>
                <a:spcPts val="95"/>
              </a:spcBef>
            </a:pP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Шифротексты</a:t>
            </a:r>
            <a:r>
              <a:rPr sz="900" spc="7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обеих</a:t>
            </a:r>
            <a:r>
              <a:rPr sz="900" spc="7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телеграмм</a:t>
            </a:r>
            <a:r>
              <a:rPr sz="900" spc="7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можно</a:t>
            </a:r>
            <a:r>
              <a:rPr sz="900" spc="7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получить</a:t>
            </a:r>
            <a:r>
              <a:rPr sz="900" spc="7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по</a:t>
            </a:r>
            <a:r>
              <a:rPr sz="900" spc="7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формулам</a:t>
            </a:r>
            <a:r>
              <a:rPr sz="900" spc="7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режима</a:t>
            </a:r>
            <a:r>
              <a:rPr sz="900" spc="7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91919"/>
                </a:solidFill>
                <a:latin typeface="Trebuchet MS"/>
                <a:cs typeface="Trebuchet MS"/>
              </a:rPr>
              <a:t>однократного гаммирования: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900">
              <a:latin typeface="Trebuchet MS"/>
              <a:cs typeface="Trebuchet MS"/>
            </a:endParaRPr>
          </a:p>
          <a:p>
            <a:pPr marL="368935" algn="ctr">
              <a:lnSpc>
                <a:spcPct val="100000"/>
              </a:lnSpc>
            </a:pPr>
            <a:r>
              <a:rPr sz="1100" spc="85" dirty="0">
                <a:solidFill>
                  <a:srgbClr val="191919"/>
                </a:solidFill>
                <a:latin typeface="Cambria"/>
                <a:cs typeface="Cambria"/>
              </a:rPr>
              <a:t>𝐶</a:t>
            </a:r>
            <a:r>
              <a:rPr sz="1125" spc="127" baseline="-22222" dirty="0">
                <a:solidFill>
                  <a:srgbClr val="191919"/>
                </a:solidFill>
                <a:latin typeface="Cambria"/>
                <a:cs typeface="Cambria"/>
              </a:rPr>
              <a:t>1</a:t>
            </a:r>
            <a:r>
              <a:rPr sz="1125" spc="315" baseline="-22222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sz="1100" spc="254" dirty="0">
                <a:solidFill>
                  <a:srgbClr val="191919"/>
                </a:solidFill>
                <a:latin typeface="Cambria"/>
                <a:cs typeface="Cambria"/>
              </a:rPr>
              <a:t>=</a:t>
            </a:r>
            <a:r>
              <a:rPr sz="1100" spc="8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191919"/>
                </a:solidFill>
                <a:latin typeface="Cambria"/>
                <a:cs typeface="Cambria"/>
              </a:rPr>
              <a:t>𝑃</a:t>
            </a:r>
            <a:r>
              <a:rPr sz="1125" baseline="-22222" dirty="0">
                <a:solidFill>
                  <a:srgbClr val="191919"/>
                </a:solidFill>
                <a:latin typeface="Cambria"/>
                <a:cs typeface="Cambria"/>
              </a:rPr>
              <a:t>1</a:t>
            </a:r>
            <a:r>
              <a:rPr sz="1125" spc="209" baseline="-22222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sz="1100" spc="-240" dirty="0">
                <a:solidFill>
                  <a:srgbClr val="191919"/>
                </a:solidFill>
                <a:latin typeface="Cambria"/>
                <a:cs typeface="Cambria"/>
              </a:rPr>
              <a:t>⊕</a:t>
            </a:r>
            <a:r>
              <a:rPr sz="1100" spc="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sz="1100" spc="140" dirty="0">
                <a:solidFill>
                  <a:srgbClr val="191919"/>
                </a:solidFill>
                <a:latin typeface="Cambria"/>
                <a:cs typeface="Cambria"/>
              </a:rPr>
              <a:t>𝐾</a:t>
            </a:r>
            <a:endParaRPr sz="1100">
              <a:latin typeface="Cambria"/>
              <a:cs typeface="Cambria"/>
            </a:endParaRPr>
          </a:p>
          <a:p>
            <a:pPr marL="368935" algn="ctr">
              <a:lnSpc>
                <a:spcPct val="100000"/>
              </a:lnSpc>
              <a:spcBef>
                <a:spcPts val="890"/>
              </a:spcBef>
            </a:pPr>
            <a:r>
              <a:rPr sz="1100" spc="85" dirty="0">
                <a:solidFill>
                  <a:srgbClr val="191919"/>
                </a:solidFill>
                <a:latin typeface="Cambria"/>
                <a:cs typeface="Cambria"/>
              </a:rPr>
              <a:t>𝐶</a:t>
            </a:r>
            <a:r>
              <a:rPr sz="1125" spc="127" baseline="-22222" dirty="0">
                <a:solidFill>
                  <a:srgbClr val="191919"/>
                </a:solidFill>
                <a:latin typeface="Cambria"/>
                <a:cs typeface="Cambria"/>
              </a:rPr>
              <a:t>2</a:t>
            </a:r>
            <a:r>
              <a:rPr sz="1125" spc="315" baseline="-22222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sz="1100" spc="254" dirty="0">
                <a:solidFill>
                  <a:srgbClr val="191919"/>
                </a:solidFill>
                <a:latin typeface="Cambria"/>
                <a:cs typeface="Cambria"/>
              </a:rPr>
              <a:t>=</a:t>
            </a:r>
            <a:r>
              <a:rPr sz="1100" spc="8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191919"/>
                </a:solidFill>
                <a:latin typeface="Cambria"/>
                <a:cs typeface="Cambria"/>
              </a:rPr>
              <a:t>𝑃</a:t>
            </a:r>
            <a:r>
              <a:rPr sz="1125" baseline="-22222" dirty="0">
                <a:solidFill>
                  <a:srgbClr val="191919"/>
                </a:solidFill>
                <a:latin typeface="Cambria"/>
                <a:cs typeface="Cambria"/>
              </a:rPr>
              <a:t>2</a:t>
            </a:r>
            <a:r>
              <a:rPr sz="1125" spc="209" baseline="-22222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sz="1100" spc="-240" dirty="0">
                <a:solidFill>
                  <a:srgbClr val="191919"/>
                </a:solidFill>
                <a:latin typeface="Cambria"/>
                <a:cs typeface="Cambria"/>
              </a:rPr>
              <a:t>⊕</a:t>
            </a:r>
            <a:r>
              <a:rPr sz="1100" spc="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sz="1100" spc="140" dirty="0">
                <a:solidFill>
                  <a:srgbClr val="191919"/>
                </a:solidFill>
                <a:latin typeface="Cambria"/>
                <a:cs typeface="Cambria"/>
              </a:rPr>
              <a:t>𝐾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C13D0F6-41F7-2751-5CB3-BA7F0F9E6EAA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45160" y="3112302"/>
            <a:ext cx="434975" cy="12118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2026-</a:t>
            </a:r>
            <a:r>
              <a:rPr spc="-10" dirty="0"/>
              <a:t>0</a:t>
            </a:r>
            <a:r>
              <a:rPr lang="ru-RU" spc="-10" dirty="0"/>
              <a:t>5</a:t>
            </a:r>
            <a:r>
              <a:rPr spc="-10" dirty="0"/>
              <a:t>-</a:t>
            </a:r>
            <a:r>
              <a:rPr lang="ru-RU" spc="-25" dirty="0"/>
              <a:t>15</a:t>
            </a:r>
            <a:endParaRPr spc="-25" dirty="0"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293682A9-AEEB-26A3-7327-AA558DE3C3C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330700" y="3112302"/>
            <a:ext cx="864209" cy="12118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lang="ru-RU" spc="-10" dirty="0"/>
              <a:t>Скворцова Анастасия</a:t>
            </a:r>
            <a:endParaRPr spc="-10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2.3</a:t>
            </a:r>
            <a:r>
              <a:rPr spc="-30" dirty="0"/>
              <a:t> </a:t>
            </a:r>
            <a:r>
              <a:rPr dirty="0"/>
              <a:t>Алгоритм</a:t>
            </a:r>
            <a:r>
              <a:rPr spc="-45" dirty="0"/>
              <a:t> </a:t>
            </a:r>
            <a:r>
              <a:rPr spc="-10" dirty="0"/>
              <a:t>взлома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46465" y="3112302"/>
            <a:ext cx="1489710" cy="14732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Доклад</a:t>
            </a:r>
            <a:r>
              <a:rPr sz="650" spc="25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по</a:t>
            </a:r>
            <a:r>
              <a:rPr sz="650" spc="3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лабораторной</a:t>
            </a:r>
            <a:r>
              <a:rPr sz="650" spc="3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работе</a:t>
            </a:r>
            <a:r>
              <a:rPr sz="650" spc="25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55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№8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20" dirty="0"/>
              <a:t>8</a:t>
            </a:fld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4594" y="1182957"/>
            <a:ext cx="4885055" cy="1078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 marR="17780">
              <a:lnSpc>
                <a:spcPct val="144300"/>
              </a:lnSpc>
              <a:spcBef>
                <a:spcPts val="95"/>
              </a:spcBef>
            </a:pP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Открытый</a:t>
            </a:r>
            <a:r>
              <a:rPr sz="900" spc="6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91919"/>
                </a:solidFill>
                <a:latin typeface="Trebuchet MS"/>
                <a:cs typeface="Trebuchet MS"/>
              </a:rPr>
              <a:t>текст</a:t>
            </a:r>
            <a:r>
              <a:rPr sz="900" spc="6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можно</a:t>
            </a:r>
            <a:r>
              <a:rPr sz="900" spc="6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найти,</a:t>
            </a:r>
            <a:r>
              <a:rPr sz="900" spc="6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зная</a:t>
            </a:r>
            <a:r>
              <a:rPr sz="900" spc="6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шифротекст</a:t>
            </a:r>
            <a:r>
              <a:rPr sz="900" spc="6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двух</a:t>
            </a:r>
            <a:r>
              <a:rPr sz="900" spc="6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91919"/>
                </a:solidFill>
                <a:latin typeface="Trebuchet MS"/>
                <a:cs typeface="Trebuchet MS"/>
              </a:rPr>
              <a:t>телеграмм,</a:t>
            </a:r>
            <a:r>
              <a:rPr sz="900" spc="6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зашифрованных</a:t>
            </a:r>
            <a:r>
              <a:rPr sz="900" spc="6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91919"/>
                </a:solidFill>
                <a:latin typeface="Trebuchet MS"/>
                <a:cs typeface="Trebuchet MS"/>
              </a:rPr>
              <a:t>одним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ключом.</a:t>
            </a:r>
            <a:r>
              <a:rPr sz="900" spc="1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Для</a:t>
            </a:r>
            <a:r>
              <a:rPr sz="900" spc="2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это</a:t>
            </a:r>
            <a:r>
              <a:rPr sz="900" spc="2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оба</a:t>
            </a:r>
            <a:r>
              <a:rPr sz="900" spc="2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равенства</a:t>
            </a:r>
            <a:r>
              <a:rPr sz="900" spc="2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складываются</a:t>
            </a:r>
            <a:r>
              <a:rPr sz="900" spc="1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по</a:t>
            </a:r>
            <a:r>
              <a:rPr sz="900" spc="2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модулю</a:t>
            </a:r>
            <a:r>
              <a:rPr sz="900" spc="2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-90" dirty="0">
                <a:solidFill>
                  <a:srgbClr val="191919"/>
                </a:solidFill>
                <a:latin typeface="Trebuchet MS"/>
                <a:cs typeface="Trebuchet MS"/>
              </a:rPr>
              <a:t>2.</a:t>
            </a:r>
            <a:r>
              <a:rPr sz="900" spc="2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-25" dirty="0">
                <a:solidFill>
                  <a:srgbClr val="191919"/>
                </a:solidFill>
                <a:latin typeface="Trebuchet MS"/>
                <a:cs typeface="Trebuchet MS"/>
              </a:rPr>
              <a:t>Тогда</a:t>
            </a:r>
            <a:r>
              <a:rPr sz="900" spc="2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с</a:t>
            </a:r>
            <a:r>
              <a:rPr sz="900" spc="1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учётом</a:t>
            </a:r>
            <a:r>
              <a:rPr sz="900" spc="2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91919"/>
                </a:solidFill>
                <a:latin typeface="Trebuchet MS"/>
                <a:cs typeface="Trebuchet MS"/>
              </a:rPr>
              <a:t>свойства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операции</a:t>
            </a:r>
            <a:r>
              <a:rPr sz="900" spc="10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XOR</a:t>
            </a:r>
            <a:r>
              <a:rPr sz="900" spc="10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91919"/>
                </a:solidFill>
                <a:latin typeface="Trebuchet MS"/>
                <a:cs typeface="Trebuchet MS"/>
              </a:rPr>
              <a:t>получаем: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900">
              <a:latin typeface="Trebuchet MS"/>
              <a:cs typeface="Trebuchet MS"/>
            </a:endParaRPr>
          </a:p>
          <a:p>
            <a:pPr marL="199390" algn="ctr">
              <a:lnSpc>
                <a:spcPct val="100000"/>
              </a:lnSpc>
            </a:pPr>
            <a:r>
              <a:rPr sz="1100" spc="85" dirty="0">
                <a:solidFill>
                  <a:srgbClr val="191919"/>
                </a:solidFill>
                <a:latin typeface="Cambria"/>
                <a:cs typeface="Cambria"/>
              </a:rPr>
              <a:t>𝐶</a:t>
            </a:r>
            <a:r>
              <a:rPr sz="1125" spc="127" baseline="-22222" dirty="0">
                <a:solidFill>
                  <a:srgbClr val="191919"/>
                </a:solidFill>
                <a:latin typeface="Cambria"/>
                <a:cs typeface="Cambria"/>
              </a:rPr>
              <a:t>1</a:t>
            </a:r>
            <a:r>
              <a:rPr sz="1125" spc="209" baseline="-22222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sz="1100" spc="-240" dirty="0">
                <a:solidFill>
                  <a:srgbClr val="191919"/>
                </a:solidFill>
                <a:latin typeface="Cambria"/>
                <a:cs typeface="Cambria"/>
              </a:rPr>
              <a:t>⊕</a:t>
            </a:r>
            <a:r>
              <a:rPr sz="1100" spc="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sz="1100" spc="85" dirty="0">
                <a:solidFill>
                  <a:srgbClr val="191919"/>
                </a:solidFill>
                <a:latin typeface="Cambria"/>
                <a:cs typeface="Cambria"/>
              </a:rPr>
              <a:t>𝐶</a:t>
            </a:r>
            <a:r>
              <a:rPr sz="1125" spc="127" baseline="-22222" dirty="0">
                <a:solidFill>
                  <a:srgbClr val="191919"/>
                </a:solidFill>
                <a:latin typeface="Cambria"/>
                <a:cs typeface="Cambria"/>
              </a:rPr>
              <a:t>2</a:t>
            </a:r>
            <a:r>
              <a:rPr sz="1125" spc="315" baseline="-22222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sz="1100" spc="254" dirty="0">
                <a:solidFill>
                  <a:srgbClr val="191919"/>
                </a:solidFill>
                <a:latin typeface="Cambria"/>
                <a:cs typeface="Cambria"/>
              </a:rPr>
              <a:t>=</a:t>
            </a:r>
            <a:r>
              <a:rPr sz="1100" spc="8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191919"/>
                </a:solidFill>
                <a:latin typeface="Cambria"/>
                <a:cs typeface="Cambria"/>
              </a:rPr>
              <a:t>𝑃</a:t>
            </a:r>
            <a:r>
              <a:rPr sz="1125" baseline="-22222" dirty="0">
                <a:solidFill>
                  <a:srgbClr val="191919"/>
                </a:solidFill>
                <a:latin typeface="Cambria"/>
                <a:cs typeface="Cambria"/>
              </a:rPr>
              <a:t>1</a:t>
            </a:r>
            <a:r>
              <a:rPr sz="1125" spc="217" baseline="-22222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sz="1100" spc="-240" dirty="0">
                <a:solidFill>
                  <a:srgbClr val="191919"/>
                </a:solidFill>
                <a:latin typeface="Cambria"/>
                <a:cs typeface="Cambria"/>
              </a:rPr>
              <a:t>⊕</a:t>
            </a:r>
            <a:r>
              <a:rPr sz="1100" spc="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sz="1100" spc="190" dirty="0">
                <a:solidFill>
                  <a:srgbClr val="191919"/>
                </a:solidFill>
                <a:latin typeface="Cambria"/>
                <a:cs typeface="Cambria"/>
              </a:rPr>
              <a:t>𝐾</a:t>
            </a:r>
            <a:r>
              <a:rPr sz="1100" spc="9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sz="1100" spc="-240" dirty="0">
                <a:solidFill>
                  <a:srgbClr val="191919"/>
                </a:solidFill>
                <a:latin typeface="Cambria"/>
                <a:cs typeface="Cambria"/>
              </a:rPr>
              <a:t>⊕</a:t>
            </a:r>
            <a:r>
              <a:rPr sz="1100" spc="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191919"/>
                </a:solidFill>
                <a:latin typeface="Cambria"/>
                <a:cs typeface="Cambria"/>
              </a:rPr>
              <a:t>𝑃</a:t>
            </a:r>
            <a:r>
              <a:rPr sz="1125" baseline="-22222" dirty="0">
                <a:solidFill>
                  <a:srgbClr val="191919"/>
                </a:solidFill>
                <a:latin typeface="Cambria"/>
                <a:cs typeface="Cambria"/>
              </a:rPr>
              <a:t>2</a:t>
            </a:r>
            <a:r>
              <a:rPr sz="1125" spc="217" baseline="-22222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sz="1100" spc="-240" dirty="0">
                <a:solidFill>
                  <a:srgbClr val="191919"/>
                </a:solidFill>
                <a:latin typeface="Cambria"/>
                <a:cs typeface="Cambria"/>
              </a:rPr>
              <a:t>⊕</a:t>
            </a:r>
            <a:r>
              <a:rPr sz="1100" spc="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sz="1100" spc="190" dirty="0">
                <a:solidFill>
                  <a:srgbClr val="191919"/>
                </a:solidFill>
                <a:latin typeface="Cambria"/>
                <a:cs typeface="Cambria"/>
              </a:rPr>
              <a:t>𝐾</a:t>
            </a:r>
            <a:r>
              <a:rPr sz="1100" spc="15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sz="1100" spc="254" dirty="0">
                <a:solidFill>
                  <a:srgbClr val="191919"/>
                </a:solidFill>
                <a:latin typeface="Cambria"/>
                <a:cs typeface="Cambria"/>
              </a:rPr>
              <a:t>=</a:t>
            </a:r>
            <a:r>
              <a:rPr sz="1100" spc="8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191919"/>
                </a:solidFill>
                <a:latin typeface="Cambria"/>
                <a:cs typeface="Cambria"/>
              </a:rPr>
              <a:t>𝑃</a:t>
            </a:r>
            <a:r>
              <a:rPr sz="1125" baseline="-22222" dirty="0">
                <a:solidFill>
                  <a:srgbClr val="191919"/>
                </a:solidFill>
                <a:latin typeface="Cambria"/>
                <a:cs typeface="Cambria"/>
              </a:rPr>
              <a:t>1</a:t>
            </a:r>
            <a:r>
              <a:rPr sz="1125" spc="209" baseline="-22222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sz="1100" spc="-240" dirty="0">
                <a:solidFill>
                  <a:srgbClr val="191919"/>
                </a:solidFill>
                <a:latin typeface="Cambria"/>
                <a:cs typeface="Cambria"/>
              </a:rPr>
              <a:t>⊕</a:t>
            </a:r>
            <a:r>
              <a:rPr sz="1100" spc="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sz="1100" spc="-25" dirty="0">
                <a:solidFill>
                  <a:srgbClr val="191919"/>
                </a:solidFill>
                <a:latin typeface="Cambria"/>
                <a:cs typeface="Cambria"/>
              </a:rPr>
              <a:t>𝑃</a:t>
            </a:r>
            <a:r>
              <a:rPr sz="1125" spc="-37" baseline="-22222" dirty="0">
                <a:solidFill>
                  <a:srgbClr val="191919"/>
                </a:solidFill>
                <a:latin typeface="Cambria"/>
                <a:cs typeface="Cambria"/>
              </a:rPr>
              <a:t>2</a:t>
            </a:r>
            <a:endParaRPr sz="1125" baseline="-22222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94E228F-C4E2-50EA-A40A-B64494716137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45160" y="3112302"/>
            <a:ext cx="434975" cy="12118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2026-</a:t>
            </a:r>
            <a:r>
              <a:rPr spc="-10" dirty="0"/>
              <a:t>0</a:t>
            </a:r>
            <a:r>
              <a:rPr lang="ru-RU" spc="-10" dirty="0"/>
              <a:t>5</a:t>
            </a:r>
            <a:r>
              <a:rPr spc="-10" dirty="0"/>
              <a:t>-</a:t>
            </a:r>
            <a:r>
              <a:rPr lang="ru-RU" spc="-25" dirty="0"/>
              <a:t>15</a:t>
            </a:r>
            <a:endParaRPr spc="-25" dirty="0"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1DBFE260-5C4F-EBA3-3478-CDE1A52C92C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330700" y="3112302"/>
            <a:ext cx="864209" cy="12118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lang="ru-RU" spc="-10" dirty="0"/>
              <a:t>Скворцова Анастасия</a:t>
            </a:r>
            <a:endParaRPr spc="-10" dirty="0"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2.4</a:t>
            </a:r>
            <a:r>
              <a:rPr spc="-25" dirty="0"/>
              <a:t> </a:t>
            </a:r>
            <a:r>
              <a:rPr dirty="0"/>
              <a:t>Алгоритм</a:t>
            </a:r>
            <a:r>
              <a:rPr spc="-40" dirty="0"/>
              <a:t> </a:t>
            </a:r>
            <a:r>
              <a:rPr spc="-10" dirty="0"/>
              <a:t>взлома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46465" y="3112302"/>
            <a:ext cx="1489710" cy="14732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Доклад</a:t>
            </a:r>
            <a:r>
              <a:rPr sz="650" spc="25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по</a:t>
            </a:r>
            <a:r>
              <a:rPr sz="650" spc="3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лабораторной</a:t>
            </a:r>
            <a:r>
              <a:rPr sz="650" spc="3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работе</a:t>
            </a:r>
            <a:r>
              <a:rPr sz="650" spc="25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55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№8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20" dirty="0"/>
              <a:t>9</a:t>
            </a:fld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13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50800" marR="43180" indent="3175">
              <a:lnSpc>
                <a:spcPts val="1560"/>
              </a:lnSpc>
              <a:spcBef>
                <a:spcPts val="225"/>
              </a:spcBef>
            </a:pPr>
            <a:r>
              <a:rPr dirty="0"/>
              <a:t>Предположим,</a:t>
            </a:r>
            <a:r>
              <a:rPr spc="35" dirty="0"/>
              <a:t> </a:t>
            </a:r>
            <a:r>
              <a:rPr dirty="0"/>
              <a:t>что</a:t>
            </a:r>
            <a:r>
              <a:rPr spc="40" dirty="0"/>
              <a:t> </a:t>
            </a:r>
            <a:r>
              <a:rPr dirty="0"/>
              <a:t>одна</a:t>
            </a:r>
            <a:r>
              <a:rPr spc="35" dirty="0"/>
              <a:t> </a:t>
            </a:r>
            <a:r>
              <a:rPr dirty="0"/>
              <a:t>из</a:t>
            </a:r>
            <a:r>
              <a:rPr spc="40" dirty="0"/>
              <a:t> </a:t>
            </a:r>
            <a:r>
              <a:rPr dirty="0"/>
              <a:t>телеграмм</a:t>
            </a:r>
            <a:r>
              <a:rPr spc="40" dirty="0"/>
              <a:t> </a:t>
            </a:r>
            <a:r>
              <a:rPr dirty="0"/>
              <a:t>является</a:t>
            </a:r>
            <a:r>
              <a:rPr spc="35" dirty="0"/>
              <a:t> </a:t>
            </a:r>
            <a:r>
              <a:rPr dirty="0"/>
              <a:t>шаблоном</a:t>
            </a:r>
            <a:r>
              <a:rPr spc="40" dirty="0"/>
              <a:t> </a:t>
            </a:r>
            <a:r>
              <a:rPr spc="55" dirty="0"/>
              <a:t>—</a:t>
            </a:r>
            <a:r>
              <a:rPr spc="35" dirty="0"/>
              <a:t> </a:t>
            </a:r>
            <a:r>
              <a:rPr spc="-95" dirty="0"/>
              <a:t>т.е.</a:t>
            </a:r>
            <a:r>
              <a:rPr spc="40" dirty="0"/>
              <a:t> </a:t>
            </a:r>
            <a:r>
              <a:rPr dirty="0"/>
              <a:t>имеет</a:t>
            </a:r>
            <a:r>
              <a:rPr spc="40" dirty="0"/>
              <a:t> </a:t>
            </a:r>
            <a:r>
              <a:rPr spc="-10" dirty="0"/>
              <a:t>текст </a:t>
            </a:r>
            <a:r>
              <a:rPr dirty="0"/>
              <a:t>фиксированный</a:t>
            </a:r>
            <a:r>
              <a:rPr spc="100" dirty="0"/>
              <a:t> </a:t>
            </a:r>
            <a:r>
              <a:rPr spc="-10" dirty="0"/>
              <a:t>формат,</a:t>
            </a:r>
            <a:r>
              <a:rPr spc="105" dirty="0"/>
              <a:t> </a:t>
            </a:r>
            <a:r>
              <a:rPr dirty="0"/>
              <a:t>в</a:t>
            </a:r>
            <a:r>
              <a:rPr spc="105" dirty="0"/>
              <a:t> </a:t>
            </a:r>
            <a:r>
              <a:rPr dirty="0"/>
              <a:t>который</a:t>
            </a:r>
            <a:r>
              <a:rPr spc="105" dirty="0"/>
              <a:t> </a:t>
            </a:r>
            <a:r>
              <a:rPr dirty="0"/>
              <a:t>вписываются</a:t>
            </a:r>
            <a:r>
              <a:rPr spc="100" dirty="0"/>
              <a:t> </a:t>
            </a:r>
            <a:r>
              <a:rPr dirty="0"/>
              <a:t>значения</a:t>
            </a:r>
            <a:r>
              <a:rPr spc="105" dirty="0"/>
              <a:t> </a:t>
            </a:r>
            <a:r>
              <a:rPr dirty="0"/>
              <a:t>полей.</a:t>
            </a:r>
            <a:r>
              <a:rPr spc="105" dirty="0"/>
              <a:t> </a:t>
            </a:r>
            <a:r>
              <a:rPr spc="-20" dirty="0"/>
              <a:t>Допустим,</a:t>
            </a:r>
            <a:r>
              <a:rPr spc="105" dirty="0"/>
              <a:t> </a:t>
            </a:r>
            <a:r>
              <a:rPr spc="-25" dirty="0"/>
              <a:t>что </a:t>
            </a:r>
            <a:r>
              <a:rPr dirty="0"/>
              <a:t>злоумышленнику</a:t>
            </a:r>
            <a:r>
              <a:rPr spc="40" dirty="0"/>
              <a:t> </a:t>
            </a:r>
            <a:r>
              <a:rPr spc="-10" dirty="0"/>
              <a:t>этот</a:t>
            </a:r>
            <a:r>
              <a:rPr spc="45" dirty="0"/>
              <a:t> </a:t>
            </a:r>
            <a:r>
              <a:rPr dirty="0"/>
              <a:t>формат</a:t>
            </a:r>
            <a:r>
              <a:rPr spc="40" dirty="0"/>
              <a:t> </a:t>
            </a:r>
            <a:r>
              <a:rPr dirty="0"/>
              <a:t>известен.</a:t>
            </a:r>
            <a:r>
              <a:rPr spc="45" dirty="0"/>
              <a:t> </a:t>
            </a:r>
            <a:r>
              <a:rPr spc="-25" dirty="0"/>
              <a:t>Тогда</a:t>
            </a:r>
            <a:r>
              <a:rPr spc="40" dirty="0"/>
              <a:t> </a:t>
            </a:r>
            <a:r>
              <a:rPr dirty="0"/>
              <a:t>он</a:t>
            </a:r>
            <a:r>
              <a:rPr spc="45" dirty="0"/>
              <a:t> </a:t>
            </a:r>
            <a:r>
              <a:rPr dirty="0"/>
              <a:t>получает</a:t>
            </a:r>
            <a:r>
              <a:rPr spc="40" dirty="0"/>
              <a:t> </a:t>
            </a:r>
            <a:r>
              <a:rPr dirty="0"/>
              <a:t>достаточно</a:t>
            </a:r>
            <a:r>
              <a:rPr spc="45" dirty="0"/>
              <a:t> </a:t>
            </a:r>
            <a:r>
              <a:rPr dirty="0"/>
              <a:t>много</a:t>
            </a:r>
            <a:r>
              <a:rPr spc="45" dirty="0"/>
              <a:t> </a:t>
            </a:r>
            <a:r>
              <a:rPr dirty="0"/>
              <a:t>пар</a:t>
            </a:r>
            <a:r>
              <a:rPr spc="40" dirty="0"/>
              <a:t> </a:t>
            </a:r>
            <a:r>
              <a:rPr sz="1100" spc="85" dirty="0">
                <a:latin typeface="Cambria"/>
                <a:cs typeface="Cambria"/>
              </a:rPr>
              <a:t>𝐶</a:t>
            </a:r>
            <a:r>
              <a:rPr sz="1125" spc="127" baseline="-22222" dirty="0">
                <a:latin typeface="Cambria"/>
                <a:cs typeface="Cambria"/>
              </a:rPr>
              <a:t>1</a:t>
            </a:r>
            <a:r>
              <a:rPr sz="1125" spc="284" baseline="-22222" dirty="0">
                <a:latin typeface="Cambria"/>
                <a:cs typeface="Cambria"/>
              </a:rPr>
              <a:t> </a:t>
            </a:r>
            <a:r>
              <a:rPr sz="1100" spc="-240" dirty="0">
                <a:latin typeface="Cambria"/>
                <a:cs typeface="Cambria"/>
              </a:rPr>
              <a:t>⊕</a:t>
            </a:r>
            <a:r>
              <a:rPr sz="1100" spc="60" dirty="0">
                <a:latin typeface="Cambria"/>
                <a:cs typeface="Cambria"/>
              </a:rPr>
              <a:t> 𝐶</a:t>
            </a:r>
            <a:r>
              <a:rPr sz="1125" spc="89" baseline="-22222" dirty="0">
                <a:latin typeface="Cambria"/>
                <a:cs typeface="Cambria"/>
              </a:rPr>
              <a:t>2 </a:t>
            </a:r>
            <a:r>
              <a:rPr sz="900" dirty="0"/>
              <a:t>(известен</a:t>
            </a:r>
            <a:r>
              <a:rPr sz="900" spc="40" dirty="0"/>
              <a:t> </a:t>
            </a:r>
            <a:r>
              <a:rPr sz="900" dirty="0"/>
              <a:t>вид</a:t>
            </a:r>
            <a:r>
              <a:rPr sz="900" spc="45" dirty="0"/>
              <a:t> </a:t>
            </a:r>
            <a:r>
              <a:rPr sz="900" dirty="0"/>
              <a:t>обеих</a:t>
            </a:r>
            <a:r>
              <a:rPr sz="900" spc="45" dirty="0"/>
              <a:t> </a:t>
            </a:r>
            <a:r>
              <a:rPr sz="900" dirty="0"/>
              <a:t>шифровок).</a:t>
            </a:r>
            <a:r>
              <a:rPr sz="900" spc="45" dirty="0"/>
              <a:t> </a:t>
            </a:r>
            <a:r>
              <a:rPr sz="900" spc="-25" dirty="0"/>
              <a:t>Тогда</a:t>
            </a:r>
            <a:r>
              <a:rPr sz="900" spc="45" dirty="0"/>
              <a:t> </a:t>
            </a:r>
            <a:r>
              <a:rPr sz="900" dirty="0"/>
              <a:t>зная</a:t>
            </a:r>
            <a:r>
              <a:rPr sz="900" spc="40" dirty="0"/>
              <a:t> </a:t>
            </a:r>
            <a:r>
              <a:rPr sz="1100" dirty="0">
                <a:latin typeface="Cambria"/>
                <a:cs typeface="Cambria"/>
              </a:rPr>
              <a:t>𝑃</a:t>
            </a:r>
            <a:r>
              <a:rPr sz="1125" baseline="-22222" dirty="0">
                <a:latin typeface="Cambria"/>
                <a:cs typeface="Cambria"/>
              </a:rPr>
              <a:t>1</a:t>
            </a:r>
            <a:r>
              <a:rPr sz="1125" spc="307" baseline="-22222" dirty="0">
                <a:latin typeface="Cambria"/>
                <a:cs typeface="Cambria"/>
              </a:rPr>
              <a:t> </a:t>
            </a:r>
            <a:r>
              <a:rPr sz="900" spc="-10" dirty="0"/>
              <a:t>имеем:</a:t>
            </a:r>
            <a:endParaRPr sz="9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9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900">
              <a:latin typeface="Cambria"/>
              <a:cs typeface="Cambria"/>
            </a:endParaRPr>
          </a:p>
          <a:p>
            <a:pPr marL="57785" algn="ctr">
              <a:lnSpc>
                <a:spcPct val="100000"/>
              </a:lnSpc>
            </a:pPr>
            <a:r>
              <a:rPr sz="1100" spc="85" dirty="0">
                <a:latin typeface="Cambria"/>
                <a:cs typeface="Cambria"/>
              </a:rPr>
              <a:t>𝐶</a:t>
            </a:r>
            <a:r>
              <a:rPr sz="1125" spc="127" baseline="-22222" dirty="0">
                <a:latin typeface="Cambria"/>
                <a:cs typeface="Cambria"/>
              </a:rPr>
              <a:t>1</a:t>
            </a:r>
            <a:r>
              <a:rPr sz="1125" spc="217" baseline="-22222" dirty="0">
                <a:latin typeface="Cambria"/>
                <a:cs typeface="Cambria"/>
              </a:rPr>
              <a:t> </a:t>
            </a:r>
            <a:r>
              <a:rPr sz="1100" spc="-240" dirty="0">
                <a:latin typeface="Cambria"/>
                <a:cs typeface="Cambria"/>
              </a:rPr>
              <a:t>⊕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spc="85" dirty="0">
                <a:latin typeface="Cambria"/>
                <a:cs typeface="Cambria"/>
              </a:rPr>
              <a:t>𝐶</a:t>
            </a:r>
            <a:r>
              <a:rPr sz="1125" spc="127" baseline="-22222" dirty="0">
                <a:latin typeface="Cambria"/>
                <a:cs typeface="Cambria"/>
              </a:rPr>
              <a:t>2</a:t>
            </a:r>
            <a:r>
              <a:rPr sz="1125" spc="225" baseline="-22222" dirty="0">
                <a:latin typeface="Cambria"/>
                <a:cs typeface="Cambria"/>
              </a:rPr>
              <a:t> </a:t>
            </a:r>
            <a:r>
              <a:rPr sz="1100" spc="-240" dirty="0">
                <a:latin typeface="Cambria"/>
                <a:cs typeface="Cambria"/>
              </a:rPr>
              <a:t>⊕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𝑃</a:t>
            </a:r>
            <a:r>
              <a:rPr sz="1125" baseline="-22222" dirty="0">
                <a:latin typeface="Cambria"/>
                <a:cs typeface="Cambria"/>
              </a:rPr>
              <a:t>1</a:t>
            </a:r>
            <a:r>
              <a:rPr sz="1125" spc="330" baseline="-22222" dirty="0">
                <a:latin typeface="Cambria"/>
                <a:cs typeface="Cambria"/>
              </a:rPr>
              <a:t> </a:t>
            </a:r>
            <a:r>
              <a:rPr sz="1100" spc="254" dirty="0">
                <a:latin typeface="Cambria"/>
                <a:cs typeface="Cambria"/>
              </a:rPr>
              <a:t>=</a:t>
            </a:r>
            <a:r>
              <a:rPr sz="1100" spc="9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𝑃</a:t>
            </a:r>
            <a:r>
              <a:rPr sz="1125" baseline="-22222" dirty="0">
                <a:latin typeface="Cambria"/>
                <a:cs typeface="Cambria"/>
              </a:rPr>
              <a:t>1</a:t>
            </a:r>
            <a:r>
              <a:rPr sz="1125" spc="225" baseline="-22222" dirty="0">
                <a:latin typeface="Cambria"/>
                <a:cs typeface="Cambria"/>
              </a:rPr>
              <a:t> </a:t>
            </a:r>
            <a:r>
              <a:rPr sz="1100" spc="-240" dirty="0">
                <a:latin typeface="Cambria"/>
                <a:cs typeface="Cambria"/>
              </a:rPr>
              <a:t>⊕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𝑃</a:t>
            </a:r>
            <a:r>
              <a:rPr sz="1125" baseline="-22222" dirty="0">
                <a:latin typeface="Cambria"/>
                <a:cs typeface="Cambria"/>
              </a:rPr>
              <a:t>2</a:t>
            </a:r>
            <a:r>
              <a:rPr sz="1125" spc="225" baseline="-22222" dirty="0">
                <a:latin typeface="Cambria"/>
                <a:cs typeface="Cambria"/>
              </a:rPr>
              <a:t> </a:t>
            </a:r>
            <a:r>
              <a:rPr sz="1100" spc="-240" dirty="0">
                <a:latin typeface="Cambria"/>
                <a:cs typeface="Cambria"/>
              </a:rPr>
              <a:t>⊕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𝑃</a:t>
            </a:r>
            <a:r>
              <a:rPr sz="1125" baseline="-22222" dirty="0">
                <a:latin typeface="Cambria"/>
                <a:cs typeface="Cambria"/>
              </a:rPr>
              <a:t>1</a:t>
            </a:r>
            <a:r>
              <a:rPr sz="1125" spc="330" baseline="-22222" dirty="0">
                <a:latin typeface="Cambria"/>
                <a:cs typeface="Cambria"/>
              </a:rPr>
              <a:t> </a:t>
            </a:r>
            <a:r>
              <a:rPr sz="1100" spc="254" dirty="0">
                <a:latin typeface="Cambria"/>
                <a:cs typeface="Cambria"/>
              </a:rPr>
              <a:t>=</a:t>
            </a:r>
            <a:r>
              <a:rPr sz="1100" spc="90" dirty="0">
                <a:latin typeface="Cambria"/>
                <a:cs typeface="Cambria"/>
              </a:rPr>
              <a:t> </a:t>
            </a:r>
            <a:r>
              <a:rPr sz="1100" spc="-25" dirty="0">
                <a:latin typeface="Cambria"/>
                <a:cs typeface="Cambria"/>
              </a:rPr>
              <a:t>𝑃</a:t>
            </a:r>
            <a:r>
              <a:rPr sz="1125" spc="-37" baseline="-22222" dirty="0">
                <a:latin typeface="Cambria"/>
                <a:cs typeface="Cambria"/>
              </a:rPr>
              <a:t>2</a:t>
            </a:r>
            <a:endParaRPr sz="1125" baseline="-22222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B33BA887-82BF-F1B3-8D71-3AD30400BB7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45160" y="3112302"/>
            <a:ext cx="434975" cy="12118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2026-</a:t>
            </a:r>
            <a:r>
              <a:rPr spc="-10" dirty="0"/>
              <a:t>0</a:t>
            </a:r>
            <a:r>
              <a:rPr lang="ru-RU" spc="-10" dirty="0"/>
              <a:t>5</a:t>
            </a:r>
            <a:r>
              <a:rPr spc="-10" dirty="0"/>
              <a:t>-</a:t>
            </a:r>
            <a:r>
              <a:rPr lang="ru-RU" spc="-25" dirty="0"/>
              <a:t>15</a:t>
            </a:r>
            <a:endParaRPr spc="-25" dirty="0"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20EAAE93-21DF-ECD4-07EA-2B24FC14005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330700" y="3112302"/>
            <a:ext cx="864209" cy="12118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lang="ru-RU" spc="-10" dirty="0"/>
              <a:t>Скворцова Анастасия</a:t>
            </a:r>
            <a:endParaRPr spc="-10" dirty="0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82877"/>
            <a:ext cx="171323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40" dirty="0">
                <a:solidFill>
                  <a:srgbClr val="FFFFEF"/>
                </a:solidFill>
                <a:latin typeface="Microsoft Sans Serif"/>
                <a:cs typeface="Microsoft Sans Serif"/>
              </a:rPr>
              <a:t>2.5</a:t>
            </a:r>
            <a:r>
              <a:rPr sz="1000" spc="20" dirty="0">
                <a:solidFill>
                  <a:srgbClr val="FFFFEF"/>
                </a:solidFill>
                <a:latin typeface="Microsoft Sans Serif"/>
                <a:cs typeface="Microsoft Sans Serif"/>
              </a:rPr>
              <a:t> </a:t>
            </a:r>
            <a:r>
              <a:rPr sz="1000" spc="-55" dirty="0">
                <a:solidFill>
                  <a:srgbClr val="FFFFEF"/>
                </a:solidFill>
                <a:latin typeface="Microsoft Sans Serif"/>
                <a:cs typeface="Microsoft Sans Serif"/>
              </a:rPr>
              <a:t>Схема</a:t>
            </a:r>
            <a:r>
              <a:rPr sz="1000" spc="20" dirty="0">
                <a:solidFill>
                  <a:srgbClr val="FFFFEF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FFFEF"/>
                </a:solidFill>
                <a:latin typeface="Microsoft Sans Serif"/>
                <a:cs typeface="Microsoft Sans Serif"/>
              </a:rPr>
              <a:t>работы</a:t>
            </a:r>
            <a:r>
              <a:rPr sz="1000" spc="25" dirty="0">
                <a:solidFill>
                  <a:srgbClr val="FFFFEF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FFFFEF"/>
                </a:solidFill>
                <a:latin typeface="Microsoft Sans Serif"/>
                <a:cs typeface="Microsoft Sans Serif"/>
              </a:rPr>
              <a:t>алгоритма</a:t>
            </a:r>
            <a:endParaRPr sz="100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7598" y="1018146"/>
            <a:ext cx="4149508" cy="139765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78444" y="2622336"/>
            <a:ext cx="2203450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191919"/>
                </a:solidFill>
                <a:latin typeface="Microsoft Sans Serif"/>
                <a:cs typeface="Microsoft Sans Serif"/>
              </a:rPr>
              <a:t>Рисунок</a:t>
            </a:r>
            <a:r>
              <a:rPr sz="800" spc="10" dirty="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sz="800" spc="-55" dirty="0">
                <a:solidFill>
                  <a:srgbClr val="191919"/>
                </a:solidFill>
                <a:latin typeface="Microsoft Sans Serif"/>
                <a:cs typeface="Microsoft Sans Serif"/>
              </a:rPr>
              <a:t>1:</a:t>
            </a:r>
            <a:r>
              <a:rPr sz="800" spc="20" dirty="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191919"/>
                </a:solidFill>
                <a:latin typeface="Trebuchet MS"/>
                <a:cs typeface="Trebuchet MS"/>
              </a:rPr>
              <a:t>Работа</a:t>
            </a:r>
            <a:r>
              <a:rPr sz="850" spc="-1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191919"/>
                </a:solidFill>
                <a:latin typeface="Trebuchet MS"/>
                <a:cs typeface="Trebuchet MS"/>
              </a:rPr>
              <a:t>алгоритма</a:t>
            </a:r>
            <a:r>
              <a:rPr sz="850" spc="-1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850" spc="-10" dirty="0">
                <a:solidFill>
                  <a:srgbClr val="191919"/>
                </a:solidFill>
                <a:latin typeface="Trebuchet MS"/>
                <a:cs typeface="Trebuchet MS"/>
              </a:rPr>
              <a:t>гаммирования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46465" y="3112302"/>
            <a:ext cx="1489710" cy="14732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Доклад</a:t>
            </a:r>
            <a:r>
              <a:rPr sz="650" spc="25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по</a:t>
            </a:r>
            <a:r>
              <a:rPr sz="650" spc="3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лабораторной</a:t>
            </a:r>
            <a:r>
              <a:rPr sz="650" spc="3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работе</a:t>
            </a:r>
            <a:r>
              <a:rPr sz="650" spc="25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 </a:t>
            </a:r>
            <a:r>
              <a:rPr sz="650" spc="55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№8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20" dirty="0"/>
              <a:t>10</a:t>
            </a:fld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13</a:t>
            </a: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1F6DC2FF-EA24-34CA-C1F6-DDAD9499CEA5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45160" y="3112302"/>
            <a:ext cx="434975" cy="12118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2026-</a:t>
            </a:r>
            <a:r>
              <a:rPr spc="-10" dirty="0"/>
              <a:t>0</a:t>
            </a:r>
            <a:r>
              <a:rPr lang="ru-RU" spc="-10" dirty="0"/>
              <a:t>5</a:t>
            </a:r>
            <a:r>
              <a:rPr spc="-10" dirty="0"/>
              <a:t>-</a:t>
            </a:r>
            <a:r>
              <a:rPr lang="ru-RU" spc="-25" dirty="0"/>
              <a:t>15</a:t>
            </a:r>
            <a:endParaRPr spc="-25" dirty="0"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F9A0B76C-0C2E-6280-438F-A10C3097D7A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330700" y="3112302"/>
            <a:ext cx="864209" cy="12118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lang="ru-RU" spc="-10" dirty="0"/>
              <a:t>Скворцова Анастасия</a:t>
            </a:r>
            <a:endParaRPr spc="-10" dirty="0"/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82877"/>
            <a:ext cx="188468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35" dirty="0">
                <a:solidFill>
                  <a:srgbClr val="FFFFEF"/>
                </a:solidFill>
                <a:latin typeface="Microsoft Sans Serif"/>
                <a:cs typeface="Microsoft Sans Serif"/>
              </a:rPr>
              <a:t>2.6</a:t>
            </a:r>
            <a:r>
              <a:rPr sz="1000" spc="15" dirty="0">
                <a:solidFill>
                  <a:srgbClr val="FFFFEF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FFFEF"/>
                </a:solidFill>
                <a:latin typeface="Microsoft Sans Serif"/>
                <a:cs typeface="Microsoft Sans Serif"/>
              </a:rPr>
              <a:t>Пример</a:t>
            </a:r>
            <a:r>
              <a:rPr sz="1000" spc="15" dirty="0">
                <a:solidFill>
                  <a:srgbClr val="FFFFEF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FFFEF"/>
                </a:solidFill>
                <a:latin typeface="Microsoft Sans Serif"/>
                <a:cs typeface="Microsoft Sans Serif"/>
              </a:rPr>
              <a:t>работы</a:t>
            </a:r>
            <a:r>
              <a:rPr sz="1000" spc="15" dirty="0">
                <a:solidFill>
                  <a:srgbClr val="FFFFEF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FFFFEF"/>
                </a:solidFill>
                <a:latin typeface="Microsoft Sans Serif"/>
                <a:cs typeface="Microsoft Sans Serif"/>
              </a:rPr>
              <a:t>программы</a:t>
            </a:r>
            <a:endParaRPr sz="100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0" y="649385"/>
            <a:ext cx="5040083" cy="20688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88947" y="2808886"/>
            <a:ext cx="2182495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191919"/>
                </a:solidFill>
                <a:latin typeface="Microsoft Sans Serif"/>
                <a:cs typeface="Microsoft Sans Serif"/>
              </a:rPr>
              <a:t>Рисунок 2:</a:t>
            </a:r>
            <a:r>
              <a:rPr sz="800" spc="5" dirty="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191919"/>
                </a:solidFill>
                <a:latin typeface="Trebuchet MS"/>
                <a:cs typeface="Trebuchet MS"/>
              </a:rPr>
              <a:t>Работа</a:t>
            </a:r>
            <a:r>
              <a:rPr sz="850" spc="-2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191919"/>
                </a:solidFill>
                <a:latin typeface="Trebuchet MS"/>
                <a:cs typeface="Trebuchet MS"/>
              </a:rPr>
              <a:t>алгоритма</a:t>
            </a:r>
            <a:r>
              <a:rPr sz="850" spc="-3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191919"/>
                </a:solidFill>
                <a:latin typeface="Trebuchet MS"/>
                <a:cs typeface="Trebuchet MS"/>
              </a:rPr>
              <a:t>взлома</a:t>
            </a:r>
            <a:r>
              <a:rPr sz="850" spc="-2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850" spc="-10" dirty="0">
                <a:solidFill>
                  <a:srgbClr val="191919"/>
                </a:solidFill>
                <a:latin typeface="Trebuchet MS"/>
                <a:cs typeface="Trebuchet MS"/>
              </a:rPr>
              <a:t>ключа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46465" y="3112302"/>
            <a:ext cx="1489710" cy="14732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Доклад</a:t>
            </a:r>
            <a:r>
              <a:rPr sz="650" spc="25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по</a:t>
            </a:r>
            <a:r>
              <a:rPr sz="650" spc="3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лабораторной</a:t>
            </a:r>
            <a:r>
              <a:rPr sz="650" spc="3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работе</a:t>
            </a:r>
            <a:r>
              <a:rPr sz="650" spc="25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 </a:t>
            </a:r>
            <a:r>
              <a:rPr sz="650" spc="55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№8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20" dirty="0"/>
              <a:t>11</a:t>
            </a:fld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13</a:t>
            </a: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F91E91E6-3B11-E516-9878-B0825D0A75A4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45160" y="3112302"/>
            <a:ext cx="434975" cy="12118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2026-</a:t>
            </a:r>
            <a:r>
              <a:rPr spc="-10" dirty="0"/>
              <a:t>0</a:t>
            </a:r>
            <a:r>
              <a:rPr lang="ru-RU" spc="-10" dirty="0"/>
              <a:t>5</a:t>
            </a:r>
            <a:r>
              <a:rPr spc="-10" dirty="0"/>
              <a:t>-</a:t>
            </a:r>
            <a:r>
              <a:rPr lang="ru-RU" spc="-25" dirty="0"/>
              <a:t>15</a:t>
            </a:r>
            <a:endParaRPr spc="-25" dirty="0"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09EAFC95-4ABF-CF5D-2FA7-5A1C82FA0DD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330700" y="3112302"/>
            <a:ext cx="864209" cy="12118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lang="ru-RU" spc="-10" dirty="0"/>
              <a:t>Скворцова Анастасия</a:t>
            </a:r>
            <a:endParaRPr spc="-10" dirty="0"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73491" y="1301005"/>
            <a:ext cx="909955" cy="210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30" dirty="0">
                <a:solidFill>
                  <a:srgbClr val="191919"/>
                </a:solidFill>
                <a:latin typeface="Microsoft Sans Serif"/>
                <a:cs typeface="Microsoft Sans Serif"/>
              </a:rPr>
              <a:t>3.</a:t>
            </a:r>
            <a:r>
              <a:rPr sz="1200" spc="-60" dirty="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sz="1200" spc="-30" dirty="0">
                <a:solidFill>
                  <a:srgbClr val="191919"/>
                </a:solidFill>
                <a:latin typeface="Microsoft Sans Serif"/>
                <a:cs typeface="Microsoft Sans Serif"/>
                <a:hlinkClick r:id="rId2" action="ppaction://hlinksldjump"/>
              </a:rPr>
              <a:t>3.</a:t>
            </a:r>
            <a:r>
              <a:rPr sz="1200" spc="-50" dirty="0">
                <a:solidFill>
                  <a:srgbClr val="191919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1200" spc="-10" dirty="0">
                <a:solidFill>
                  <a:srgbClr val="191919"/>
                </a:solidFill>
                <a:latin typeface="Microsoft Sans Serif"/>
                <a:cs typeface="Microsoft Sans Serif"/>
                <a:hlinkClick r:id="rId2" action="ppaction://hlinksldjump"/>
              </a:rPr>
              <a:t>Выводы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86191" y="1565620"/>
            <a:ext cx="2588260" cy="38100"/>
            <a:chOff x="1586191" y="1565620"/>
            <a:chExt cx="2588260" cy="38100"/>
          </a:xfrm>
        </p:grpSpPr>
        <p:sp>
          <p:nvSpPr>
            <p:cNvPr id="4" name="object 4"/>
            <p:cNvSpPr/>
            <p:nvPr/>
          </p:nvSpPr>
          <p:spPr>
            <a:xfrm>
              <a:off x="1586191" y="1565620"/>
              <a:ext cx="2588260" cy="38100"/>
            </a:xfrm>
            <a:custGeom>
              <a:avLst/>
              <a:gdLst/>
              <a:ahLst/>
              <a:cxnLst/>
              <a:rect l="l" t="t" r="r" b="b"/>
              <a:pathLst>
                <a:path w="2588260" h="38100">
                  <a:moveTo>
                    <a:pt x="0" y="37958"/>
                  </a:moveTo>
                  <a:lnTo>
                    <a:pt x="0" y="0"/>
                  </a:lnTo>
                  <a:lnTo>
                    <a:pt x="2587637" y="0"/>
                  </a:lnTo>
                  <a:lnTo>
                    <a:pt x="2587637" y="37958"/>
                  </a:lnTo>
                  <a:lnTo>
                    <a:pt x="0" y="37958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86191" y="1565620"/>
              <a:ext cx="2329180" cy="38100"/>
            </a:xfrm>
            <a:custGeom>
              <a:avLst/>
              <a:gdLst/>
              <a:ahLst/>
              <a:cxnLst/>
              <a:rect l="l" t="t" r="r" b="b"/>
              <a:pathLst>
                <a:path w="2329179" h="38100">
                  <a:moveTo>
                    <a:pt x="0" y="37958"/>
                  </a:moveTo>
                  <a:lnTo>
                    <a:pt x="0" y="0"/>
                  </a:lnTo>
                  <a:lnTo>
                    <a:pt x="2328858" y="0"/>
                  </a:lnTo>
                  <a:lnTo>
                    <a:pt x="2328858" y="37958"/>
                  </a:lnTo>
                  <a:lnTo>
                    <a:pt x="0" y="37958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846465" y="3112302"/>
            <a:ext cx="1489710" cy="14732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Доклад</a:t>
            </a:r>
            <a:r>
              <a:rPr sz="650" spc="25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по</a:t>
            </a:r>
            <a:r>
              <a:rPr sz="650" spc="3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лабораторной</a:t>
            </a:r>
            <a:r>
              <a:rPr sz="650" spc="3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работе</a:t>
            </a:r>
            <a:r>
              <a:rPr sz="650" spc="25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 </a:t>
            </a:r>
            <a:r>
              <a:rPr sz="650" spc="55" dirty="0">
                <a:solidFill>
                  <a:srgbClr val="191919"/>
                </a:solidFill>
                <a:latin typeface="Trebuchet MS"/>
                <a:cs typeface="Trebuchet MS"/>
                <a:hlinkClick r:id="rId3" action="ppaction://hlinksldjump"/>
              </a:rPr>
              <a:t>№8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20" dirty="0"/>
              <a:t>12</a:t>
            </a:fld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13</a:t>
            </a: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279AE58E-33A8-A873-6449-D00C84977401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45160" y="3112302"/>
            <a:ext cx="434975" cy="12118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2026-</a:t>
            </a:r>
            <a:r>
              <a:rPr spc="-10" dirty="0"/>
              <a:t>0</a:t>
            </a:r>
            <a:r>
              <a:rPr lang="ru-RU" spc="-10" dirty="0"/>
              <a:t>5</a:t>
            </a:r>
            <a:r>
              <a:rPr spc="-10" dirty="0"/>
              <a:t>-</a:t>
            </a:r>
            <a:r>
              <a:rPr lang="ru-RU" spc="-25" dirty="0"/>
              <a:t>15</a:t>
            </a:r>
            <a:endParaRPr spc="-25" dirty="0"/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7DB6BB7F-FA1F-F560-941A-D8D5BB318E7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330700" y="3112302"/>
            <a:ext cx="864209" cy="12118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lang="ru-RU" spc="-10" dirty="0"/>
              <a:t>Скворцова Анастасия</a:t>
            </a:r>
            <a:endParaRPr spc="-10" dirty="0"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5" dirty="0"/>
              <a:t>3.1</a:t>
            </a:r>
            <a:r>
              <a:rPr spc="110" dirty="0"/>
              <a:t> </a:t>
            </a:r>
            <a:r>
              <a:rPr spc="-30" dirty="0"/>
              <a:t>Результаты</a:t>
            </a:r>
            <a:r>
              <a:rPr spc="114" dirty="0"/>
              <a:t> </a:t>
            </a:r>
            <a:r>
              <a:rPr dirty="0"/>
              <a:t>выполнения</a:t>
            </a:r>
            <a:r>
              <a:rPr spc="110" dirty="0"/>
              <a:t> </a:t>
            </a:r>
            <a:r>
              <a:rPr dirty="0"/>
              <a:t>лабораторной</a:t>
            </a:r>
            <a:r>
              <a:rPr spc="114" dirty="0"/>
              <a:t> </a:t>
            </a:r>
            <a:r>
              <a:rPr spc="-10" dirty="0"/>
              <a:t>работы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46465" y="3112302"/>
            <a:ext cx="1489710" cy="14732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Доклад</a:t>
            </a:r>
            <a:r>
              <a:rPr sz="650" spc="25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по</a:t>
            </a:r>
            <a:r>
              <a:rPr sz="650" spc="3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лабораторной</a:t>
            </a:r>
            <a:r>
              <a:rPr sz="650" spc="3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10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работе</a:t>
            </a:r>
            <a:r>
              <a:rPr sz="650" spc="25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 </a:t>
            </a:r>
            <a:r>
              <a:rPr sz="650" spc="55" dirty="0">
                <a:solidFill>
                  <a:srgbClr val="191919"/>
                </a:solidFill>
                <a:latin typeface="Trebuchet MS"/>
                <a:cs typeface="Trebuchet MS"/>
                <a:hlinkClick r:id="rId2" action="ppaction://hlinksldjump"/>
              </a:rPr>
              <a:t>№8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20" dirty="0"/>
              <a:t>13</a:t>
            </a:fld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555880"/>
            <a:ext cx="491426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4300"/>
              </a:lnSpc>
              <a:spcBef>
                <a:spcPts val="95"/>
              </a:spcBef>
            </a:pPr>
            <a:r>
              <a:rPr sz="900" spc="10" dirty="0">
                <a:solidFill>
                  <a:srgbClr val="191919"/>
                </a:solidFill>
                <a:latin typeface="Trebuchet MS"/>
                <a:cs typeface="Trebuchet MS"/>
              </a:rPr>
              <a:t>В</a:t>
            </a:r>
            <a:r>
              <a:rPr sz="900" spc="6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ходе</a:t>
            </a:r>
            <a:r>
              <a:rPr sz="900" spc="6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91919"/>
                </a:solidFill>
                <a:latin typeface="Trebuchet MS"/>
                <a:cs typeface="Trebuchet MS"/>
              </a:rPr>
              <a:t>выполнения</a:t>
            </a:r>
            <a:r>
              <a:rPr sz="900" spc="6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91919"/>
                </a:solidFill>
                <a:latin typeface="Trebuchet MS"/>
                <a:cs typeface="Trebuchet MS"/>
              </a:rPr>
              <a:t>лабораторной</a:t>
            </a:r>
            <a:r>
              <a:rPr sz="900" spc="6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91919"/>
                </a:solidFill>
                <a:latin typeface="Trebuchet MS"/>
                <a:cs typeface="Trebuchet MS"/>
              </a:rPr>
              <a:t>работы</a:t>
            </a:r>
            <a:r>
              <a:rPr sz="900" spc="6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91919"/>
                </a:solidFill>
                <a:latin typeface="Trebuchet MS"/>
                <a:cs typeface="Trebuchet MS"/>
              </a:rPr>
              <a:t>было</a:t>
            </a:r>
            <a:r>
              <a:rPr sz="900" spc="6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91919"/>
                </a:solidFill>
                <a:latin typeface="Trebuchet MS"/>
                <a:cs typeface="Trebuchet MS"/>
              </a:rPr>
              <a:t>разработано</a:t>
            </a:r>
            <a:r>
              <a:rPr sz="900" spc="6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91919"/>
                </a:solidFill>
                <a:latin typeface="Trebuchet MS"/>
                <a:cs typeface="Trebuchet MS"/>
              </a:rPr>
              <a:t>приложение,</a:t>
            </a:r>
            <a:r>
              <a:rPr sz="900" spc="6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91919"/>
                </a:solidFill>
                <a:latin typeface="Trebuchet MS"/>
                <a:cs typeface="Trebuchet MS"/>
              </a:rPr>
              <a:t>позволяющее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шифровать</a:t>
            </a:r>
            <a:r>
              <a:rPr sz="900" spc="8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тексты</a:t>
            </a:r>
            <a:r>
              <a:rPr sz="900" spc="8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в</a:t>
            </a:r>
            <a:r>
              <a:rPr sz="900" spc="9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режиме</a:t>
            </a:r>
            <a:r>
              <a:rPr sz="900" spc="8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91919"/>
                </a:solidFill>
                <a:latin typeface="Trebuchet MS"/>
                <a:cs typeface="Trebuchet MS"/>
              </a:rPr>
              <a:t>однократного</a:t>
            </a:r>
            <a:r>
              <a:rPr sz="900" spc="9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91919"/>
                </a:solidFill>
                <a:latin typeface="Trebuchet MS"/>
                <a:cs typeface="Trebuchet MS"/>
              </a:rPr>
              <a:t>гаммирования.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E6F457C7-32FB-4C82-B554-C29D8982CA84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45160" y="3112302"/>
            <a:ext cx="434975" cy="12118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2026-</a:t>
            </a:r>
            <a:r>
              <a:rPr spc="-10" dirty="0"/>
              <a:t>0</a:t>
            </a:r>
            <a:r>
              <a:rPr lang="ru-RU" spc="-10" dirty="0"/>
              <a:t>5</a:t>
            </a:r>
            <a:r>
              <a:rPr spc="-10" dirty="0"/>
              <a:t>-</a:t>
            </a:r>
            <a:r>
              <a:rPr lang="ru-RU" spc="-25" dirty="0"/>
              <a:t>15</a:t>
            </a:r>
            <a:endParaRPr spc="-25" dirty="0"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1E3EF714-EF12-B4FC-E1AF-51A963A5D16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330700" y="3112302"/>
            <a:ext cx="864209" cy="12118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lang="ru-RU" spc="-10" dirty="0"/>
              <a:t>Скворцова Анастасия</a:t>
            </a:r>
            <a:endParaRPr spc="-10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9191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510</Words>
  <Application>Microsoft Macintosh PowerPoint</Application>
  <PresentationFormat>Произвольный</PresentationFormat>
  <Paragraphs>89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Cambria</vt:lpstr>
      <vt:lpstr>Microsoft Sans Serif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1.1 Цель лабораторной работы</vt:lpstr>
      <vt:lpstr>2. 2. Выполнение лабораторной работы</vt:lpstr>
      <vt:lpstr>2.1 Гаммирование</vt:lpstr>
      <vt:lpstr>2.2 Алгоритм взлома</vt:lpstr>
      <vt:lpstr>2.3 Алгоритм взлома</vt:lpstr>
      <vt:lpstr>2.4 Алгоритм взлома</vt:lpstr>
      <vt:lpstr>Презентация PowerPoint</vt:lpstr>
      <vt:lpstr>Презентация PowerPoint</vt:lpstr>
      <vt:lpstr>Презентация PowerPoint</vt:lpstr>
      <vt:lpstr>3.1 Результаты выполнения лабораторной работы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Доклад по лабораторной работе №8 - Шифр гаммирования</dc:title>
  <dc:creator>Байрамов Керим</dc:creator>
  <cp:lastModifiedBy>Скворцова Анастасия</cp:lastModifiedBy>
  <cp:revision>1</cp:revision>
  <dcterms:created xsi:type="dcterms:W3CDTF">2026-05-29T21:27:51Z</dcterms:created>
  <dcterms:modified xsi:type="dcterms:W3CDTF">2026-05-29T21:33:17Z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2026-03-29T00:00:00Z</vt:filetime>
  </property>
  <property fmtid="{D5CDD505-2E9C-101B-9397-08002B2CF9AE}" pid="4" name="Creator">
    <vt:lpwstr>LaTeX via pandoc</vt:lpwstr>
  </property>
  <property fmtid="{D5CDD505-2E9C-101B-9397-08002B2CF9AE}" pid="5" name="Producer">
    <vt:lpwstr>xdvipdfmx (20250410)</vt:lpwstr>
  </property>
  <property fmtid="{D5CDD505-2E9C-101B-9397-08002B2CF9AE}" pid="6" name="LastSaved">
    <vt:filetime>2026-03-29T00:00:00Z</vt:filetime>
  </property>
</Properties>
</file>